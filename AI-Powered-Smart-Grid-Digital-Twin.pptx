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embeddedFontLst>
    <p:embeddedFont>
      <p:font typeface="Azeret Mono"/>
      <p:regular r:id="rId201314"/>
    </p:embeddedFont>
    <p:embeddedFont>
      <p:font typeface="Azeret Mono Medium"/>
      <p:regular r:id="rId201315"/>
    </p:embeddedFont>
    <p:embeddedFont>
      <p:font typeface="Azeret Mono Bold"/>
      <p:regular r:id="rId201316"/>
    </p:embeddedFont>
    <p:embeddedFont>
      <p:font typeface="Krona One"/>
      <p:regular r:id="rId201317"/>
    </p:embeddedFont>
    <p:embeddedFont>
      <p:font typeface="Lexend"/>
      <p:regular r:id="rId201318"/>
    </p:embeddedFont>
    <p:embeddedFont>
      <p:font typeface="Lexend SemiBold"/>
      <p:regular r:id="rId201319"/>
    </p:embeddedFont>
    <p:embeddedFont>
      <p:font typeface="Lexend Bold"/>
      <p:regular r:id="rId2013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joins live grid intelligence with a digital twin. AI recommends action; the twin tests it before it can affect physical infrastructure. This is a proposed operational ecosystem, not a claim of deployed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issue is the gap between sensing and deciding. Measurements live across systems, renewable output varies, and inspection workflows can be slow. The digital twin is intended to turn those disconnected signals into a shared operational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pipeline from left to right. Live telemetry reaches the AI engine, then the twin evaluates the proposed intervention. Prediction becomes action only after simulation passes. The static sequence represents the requested animated flow and remains readable in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flows downward through every layer. Sources feed the platform; the platform provides context to six AI modules. The twin validates proposed changes and exposes the resulting intelligence to operators, engineers and executives. The luminous offset plates express the requested layered 3D architecture without flattening it into a generated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showcase scenario, not measured field performance. Forecasting covers load and renewable generation. Optimization covers power flow and distributed energy resources. The six modules surface a ranked intervention; the twin checks it before execution. In the transformer scenario, an anomaly triggers prediction, an engineer alert and preventive maintenance before failure. Status labels are editable overlays, not generated interface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Autonomy is a progression with engineers in the loop, not a claim that the grid is already self-operating. Evaluate the concept against these targets without presenting them as measured results. Operators and field engineers work from the same live state, while twin validation remains the gate for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6-1.jpeg"/><Relationship Id="rId2" Type="http://schemas.openxmlformats.org/officeDocument/2006/relationships/image" Target="../media/image-1006-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A0C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A0C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A0C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A0C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0A0C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Shape 0"/>
          <p:cNvSpPr/>
          <p:nvPr/>
        </p:nvSpPr>
        <p:spPr>
          <a:xfrm>
            <a:off x="0" y="0"/>
            <a:ext cx="12191695" cy="6858000"/>
          </a:xfrm>
          <a:prstGeom prst="rect">
            <a:avLst/>
          </a:prstGeom>
          <a:solidFill>
            <a:srgbClr val="000000">
              <a:alpha val="25000"/>
            </a:srgbClr>
          </a:solidFill>
          <a:ln/>
        </p:spPr>
      </p:sp>
      <p:pic>
        <p:nvPicPr>
          <p:cNvPr id="5"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master 6">
    <p:bg>
      <p:bgPr>
        <a:solidFill>
          <a:srgbClr val="0A0C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1-1.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620117"/>
            <a:ext cx="8254793" cy="3559572"/>
          </a:xfrm>
          <a:prstGeom prst="roundRect">
            <a:avLst>
              <a:gd name="adj" fmla="val 4281"/>
            </a:avLst>
          </a:prstGeom>
          <a:noFill/>
          <a:ln w="6350">
            <a:solidFill>
              <a:srgbClr val="B7BCEB">
                <a:alpha val="42000"/>
              </a:srgbClr>
            </a:solidFill>
            <a:prstDash val="solid"/>
          </a:ln>
          <a:effectLst>
            <a:outerShdw sx="100000" sy="100000" kx="0" ky="0" algn="bl" rotWithShape="0" blurRad="278130" dist="127" dir="16200000">
              <a:srgbClr val="b7bceb">
                <a:alpha val="20000"/>
              </a:srgbClr>
            </a:outerShdw>
          </a:effectLst>
        </p:spPr>
      </p:sp>
      <p:sp>
        <p:nvSpPr>
          <p:cNvPr id="3" name="Shape 1"/>
          <p:cNvSpPr/>
          <p:nvPr/>
        </p:nvSpPr>
        <p:spPr>
          <a:xfrm>
            <a:off x="615935" y="626467"/>
            <a:ext cx="8242094" cy="3546872"/>
          </a:xfrm>
          <a:prstGeom prst="roundRect">
            <a:avLst>
              <a:gd name="adj" fmla="val 4297"/>
            </a:avLst>
          </a:prstGeom>
          <a:solidFill>
            <a:srgbClr val="262D92">
              <a:alpha val="94000"/>
            </a:srgbClr>
          </a:solidFill>
          <a:ln/>
        </p:spPr>
      </p:sp>
      <p:sp>
        <p:nvSpPr>
          <p:cNvPr id="4" name="Text 2"/>
          <p:cNvSpPr/>
          <p:nvPr/>
        </p:nvSpPr>
        <p:spPr>
          <a:xfrm>
            <a:off x="946126" y="931267"/>
            <a:ext cx="8191295" cy="213320"/>
          </a:xfrm>
          <a:prstGeom prst="rect">
            <a:avLst/>
          </a:prstGeom>
          <a:noFill/>
          <a:ln/>
        </p:spPr>
        <p:txBody>
          <a:bodyPr wrap="none" lIns="0" tIns="0" rIns="0" bIns="0" rtlCol="0" anchor="t"/>
          <a:lstStyle/>
          <a:p>
            <a:pPr algn="l" indent="0" marL="0">
              <a:lnSpc>
                <a:spcPct val="100000"/>
              </a:lnSpc>
              <a:buNone/>
            </a:pPr>
            <a:r>
              <a:rPr lang="en-US" sz="1400" spc="42" kern="100" dirty="0">
                <a:solidFill>
                  <a:srgbClr val="F4C45A"/>
                </a:solidFill>
                <a:latin typeface="Azeret Mono Medium" pitchFamily="34" charset="0"/>
                <a:ea typeface="Azeret Mono Medium" pitchFamily="34" charset="-122"/>
                <a:cs typeface="Azeret Mono Medium" pitchFamily="34" charset="-120"/>
              </a:rPr>
              <a:t>ENERGY &amp; UTILITIES</a:t>
            </a:r>
            <a:endParaRPr lang="en-US" sz="1400" dirty="0"/>
          </a:p>
        </p:txBody>
      </p:sp>
      <p:sp>
        <p:nvSpPr>
          <p:cNvPr id="5" name="Text 3"/>
          <p:cNvSpPr/>
          <p:nvPr/>
        </p:nvSpPr>
        <p:spPr>
          <a:xfrm>
            <a:off x="946126" y="1230313"/>
            <a:ext cx="7581710" cy="1554361"/>
          </a:xfrm>
          <a:prstGeom prst="rect">
            <a:avLst/>
          </a:prstGeom>
          <a:noFill/>
          <a:ln/>
        </p:spPr>
        <p:txBody>
          <a:bodyPr wrap="square" lIns="0" tIns="0" rIns="0" bIns="0" rtlCol="0" anchor="t">
            <a:normAutofit/>
          </a:bodyPr>
          <a:lstStyle/>
          <a:p>
            <a:pPr algn="l" indent="0" marL="0">
              <a:lnSpc>
                <a:spcPct val="85000"/>
              </a:lnSpc>
              <a:buNone/>
            </a:pPr>
            <a:r>
              <a:rPr lang="en-US" sz="4000" spc="-40" kern="100" dirty="0">
                <a:solidFill>
                  <a:srgbClr val="EEF0FF"/>
                </a:solidFill>
                <a:latin typeface="Krona One" pitchFamily="34" charset="0"/>
                <a:ea typeface="Krona One" pitchFamily="34" charset="-122"/>
                <a:cs typeface="Krona One" pitchFamily="34" charset="-120"/>
              </a:rPr>
              <a:t>AI-Powered</a:t>
            </a:r>
            <a:endParaRPr lang="en-US" sz="4000" dirty="0"/>
          </a:p>
          <a:p>
            <a:pPr algn="l" indent="0" marL="0">
              <a:lnSpc>
                <a:spcPct val="85000"/>
              </a:lnSpc>
              <a:buNone/>
            </a:pPr>
            <a:r>
              <a:rPr lang="en-US" sz="4000" spc="-40" kern="100" dirty="0">
                <a:solidFill>
                  <a:srgbClr val="EEF0FF"/>
                </a:solidFill>
                <a:latin typeface="Krona One" pitchFamily="34" charset="0"/>
                <a:ea typeface="Krona One" pitchFamily="34" charset="-122"/>
                <a:cs typeface="Krona One" pitchFamily="34" charset="-120"/>
              </a:rPr>
              <a:t>Smart Grid</a:t>
            </a:r>
            <a:endParaRPr lang="en-US" sz="4000" dirty="0"/>
          </a:p>
          <a:p>
            <a:pPr algn="l" indent="0" marL="0">
              <a:lnSpc>
                <a:spcPct val="85000"/>
              </a:lnSpc>
              <a:buNone/>
            </a:pPr>
            <a:r>
              <a:rPr lang="en-US" sz="4000" spc="-40" kern="100" dirty="0">
                <a:solidFill>
                  <a:srgbClr val="EEF0FF"/>
                </a:solidFill>
                <a:latin typeface="Krona One" pitchFamily="34" charset="0"/>
                <a:ea typeface="Krona One" pitchFamily="34" charset="-122"/>
                <a:cs typeface="Krona One" pitchFamily="34" charset="-120"/>
              </a:rPr>
              <a:t>Digital Twin</a:t>
            </a:r>
            <a:endParaRPr lang="en-US" sz="4000" dirty="0"/>
          </a:p>
        </p:txBody>
      </p:sp>
      <p:sp>
        <p:nvSpPr>
          <p:cNvPr id="6" name="Shape 4"/>
          <p:cNvSpPr/>
          <p:nvPr/>
        </p:nvSpPr>
        <p:spPr>
          <a:xfrm>
            <a:off x="946126" y="3052961"/>
            <a:ext cx="2501837" cy="31651"/>
          </a:xfrm>
          <a:prstGeom prst="roundRect">
            <a:avLst>
              <a:gd name="adj" fmla="val 49998"/>
            </a:avLst>
          </a:prstGeom>
          <a:solidFill>
            <a:srgbClr val="4F8DF5"/>
          </a:solidFill>
          <a:ln/>
        </p:spPr>
      </p:sp>
      <p:sp>
        <p:nvSpPr>
          <p:cNvPr id="7" name="Text 5"/>
          <p:cNvSpPr/>
          <p:nvPr/>
        </p:nvSpPr>
        <p:spPr>
          <a:xfrm>
            <a:off x="946126" y="3505398"/>
            <a:ext cx="7581710" cy="363141"/>
          </a:xfrm>
          <a:prstGeom prst="rect">
            <a:avLst/>
          </a:prstGeom>
          <a:noFill/>
          <a:ln/>
        </p:spPr>
        <p:txBody>
          <a:bodyPr wrap="none" lIns="0" tIns="0" rIns="0" bIns="0" rtlCol="0" anchor="t"/>
          <a:lstStyle/>
          <a:p>
            <a:pPr algn="l" indent="0" marL="0">
              <a:lnSpc>
                <a:spcPct val="108000"/>
              </a:lnSpc>
              <a:buNone/>
            </a:pPr>
            <a:r>
              <a:rPr lang="en-US" sz="2200" dirty="0">
                <a:solidFill>
                  <a:srgbClr val="EEF0FF"/>
                </a:solidFill>
                <a:latin typeface="Lexend" pitchFamily="34" charset="0"/>
                <a:ea typeface="Lexend" pitchFamily="34" charset="-122"/>
                <a:cs typeface="Lexend" pitchFamily="34" charset="-120"/>
              </a:rPr>
              <a:t>Intelligent Operational Ecosystem for Energy &amp; Utilities.</a:t>
            </a:r>
            <a:endParaRPr lang="en-US" sz="2200" dirty="0"/>
          </a:p>
        </p:txBody>
      </p:sp>
      <p:sp>
        <p:nvSpPr>
          <p:cNvPr id="8" name="Text 6"/>
          <p:cNvSpPr/>
          <p:nvPr/>
        </p:nvSpPr>
        <p:spPr>
          <a:xfrm>
            <a:off x="663558" y="5892800"/>
            <a:ext cx="10026399" cy="213320"/>
          </a:xfrm>
          <a:prstGeom prst="rect">
            <a:avLst/>
          </a:prstGeom>
          <a:noFill/>
          <a:ln/>
        </p:spPr>
        <p:txBody>
          <a:bodyPr wrap="none" lIns="0" tIns="0" rIns="0" bIns="0" rtlCol="0" anchor="t"/>
          <a:lstStyle/>
          <a:p>
            <a:pPr algn="l" indent="0" marL="0">
              <a:lnSpc>
                <a:spcPct val="100000"/>
              </a:lnSpc>
              <a:buNone/>
            </a:pPr>
            <a:r>
              <a:rPr lang="en-US" sz="1400" spc="42" kern="100" dirty="0">
                <a:solidFill>
                  <a:srgbClr val="F4C45A"/>
                </a:solidFill>
                <a:latin typeface="Azeret Mono Medium" pitchFamily="34" charset="0"/>
                <a:ea typeface="Azeret Mono Medium" pitchFamily="34" charset="-122"/>
                <a:cs typeface="Azeret Mono Medium" pitchFamily="34" charset="-120"/>
              </a:rPr>
              <a:t>LIVE SIGNALS → SIMULATED DECISIONS → SAFER ACTION</a:t>
            </a:r>
            <a:endParaRPr lang="en-US" sz="1400" dirty="0"/>
          </a:p>
        </p:txBody>
      </p:sp>
      <p:pic>
        <p:nvPicPr>
          <p:cNvPr id="9" name="Image 0" descr="preencoded.png">    </p:cNvPr>
          <p:cNvPicPr>
            <a:picLocks noChangeAspect="1"/>
          </p:cNvPicPr>
          <p:nvPr/>
        </p:nvPicPr>
        <p:blipFill>
          <a:blip r:embed="rId1"/>
          <a:stretch>
            <a:fillRect/>
          </a:stretch>
        </p:blipFill>
        <p:spPr>
          <a:xfrm>
            <a:off x="0" y="0"/>
            <a:ext cx="12191695" cy="591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8786" y="482600"/>
            <a:ext cx="6756231" cy="213320"/>
          </a:xfrm>
          <a:prstGeom prst="rect">
            <a:avLst/>
          </a:prstGeom>
          <a:noFill/>
          <a:ln/>
        </p:spPr>
        <p:txBody>
          <a:bodyPr wrap="none" lIns="0" tIns="0" rIns="0" bIns="0" rtlCol="0" anchor="t"/>
          <a:lstStyle/>
          <a:p>
            <a:pPr algn="l" indent="0" marL="0">
              <a:lnSpc>
                <a:spcPct val="100000"/>
              </a:lnSpc>
              <a:buNone/>
            </a:pPr>
            <a:r>
              <a:rPr lang="en-US" sz="1400" spc="42" kern="100" dirty="0">
                <a:solidFill>
                  <a:srgbClr val="F4C45A"/>
                </a:solidFill>
                <a:latin typeface="Azeret Mono Medium" pitchFamily="34" charset="0"/>
                <a:ea typeface="Azeret Mono Medium" pitchFamily="34" charset="-122"/>
                <a:cs typeface="Azeret Mono Medium" pitchFamily="34" charset="-120"/>
              </a:rPr>
              <a:t>THE OPERATING GAP</a:t>
            </a:r>
            <a:endParaRPr lang="en-US" sz="1400" dirty="0"/>
          </a:p>
        </p:txBody>
      </p:sp>
      <p:sp>
        <p:nvSpPr>
          <p:cNvPr id="3" name="Text 1"/>
          <p:cNvSpPr/>
          <p:nvPr/>
        </p:nvSpPr>
        <p:spPr>
          <a:xfrm>
            <a:off x="558786" y="781645"/>
            <a:ext cx="6400640" cy="877689"/>
          </a:xfrm>
          <a:prstGeom prst="rect">
            <a:avLst/>
          </a:prstGeom>
          <a:noFill/>
          <a:ln/>
        </p:spPr>
        <p:txBody>
          <a:bodyPr wrap="square" lIns="0" tIns="0" rIns="0" bIns="0" rtlCol="0" anchor="t">
            <a:normAutofit/>
          </a:bodyPr>
          <a:lstStyle/>
          <a:p>
            <a:pPr algn="l" indent="0" marL="0">
              <a:lnSpc>
                <a:spcPct val="90000"/>
              </a:lnSpc>
              <a:buNone/>
            </a:pPr>
            <a:r>
              <a:rPr lang="en-US" sz="3200" spc="-32" kern="100" dirty="0">
                <a:solidFill>
                  <a:srgbClr val="F4C45A"/>
                </a:solidFill>
                <a:latin typeface="Krona One" pitchFamily="34" charset="0"/>
                <a:ea typeface="Krona One" pitchFamily="34" charset="-122"/>
                <a:cs typeface="Krona One" pitchFamily="34" charset="-120"/>
              </a:rPr>
              <a:t>The grid is data-rich but decision-poor</a:t>
            </a:r>
            <a:endParaRPr lang="en-US" sz="3200" dirty="0"/>
          </a:p>
        </p:txBody>
      </p:sp>
      <p:sp>
        <p:nvSpPr>
          <p:cNvPr id="4" name="Shape 2"/>
          <p:cNvSpPr/>
          <p:nvPr/>
        </p:nvSpPr>
        <p:spPr>
          <a:xfrm>
            <a:off x="558786" y="1875234"/>
            <a:ext cx="3047825" cy="1833166"/>
          </a:xfrm>
          <a:prstGeom prst="rect">
            <a:avLst/>
          </a:prstGeom>
          <a:solidFill>
            <a:srgbClr val="262D92"/>
          </a:solidFill>
          <a:ln/>
          <a:effectLst>
            <a:outerShdw sx="100000" sy="100000" kx="0" ky="0" algn="bl" rotWithShape="0" blurRad="278130" dist="127" dir="16200000">
              <a:srgbClr val="b7bceb">
                <a:alpha val="20000"/>
              </a:srgbClr>
            </a:outerShdw>
          </a:effectLst>
        </p:spPr>
      </p:sp>
      <p:sp>
        <p:nvSpPr>
          <p:cNvPr id="5" name="Text 3"/>
          <p:cNvSpPr/>
          <p:nvPr/>
        </p:nvSpPr>
        <p:spPr>
          <a:xfrm>
            <a:off x="761981" y="2078434"/>
            <a:ext cx="2641435" cy="297160"/>
          </a:xfrm>
          <a:prstGeom prst="rect">
            <a:avLst/>
          </a:prstGeom>
          <a:noFill/>
          <a:ln/>
        </p:spPr>
        <p:txBody>
          <a:bodyPr wrap="none" lIns="0" tIns="0" rIns="0" bIns="0" rtlCol="0" anchor="t"/>
          <a:lstStyle/>
          <a:p>
            <a:pPr algn="l" indent="0" marL="0">
              <a:lnSpc>
                <a:spcPct val="108000"/>
              </a:lnSpc>
              <a:buNone/>
            </a:pPr>
            <a:r>
              <a:rPr lang="en-US" sz="1800" dirty="0">
                <a:solidFill>
                  <a:srgbClr val="EEF0FF"/>
                </a:solidFill>
                <a:latin typeface="Lexend" pitchFamily="34" charset="0"/>
                <a:ea typeface="Lexend" pitchFamily="34" charset="-122"/>
                <a:cs typeface="Lexend" pitchFamily="34" charset="-120"/>
              </a:rPr>
              <a:t>Unexpected outages</a:t>
            </a:r>
            <a:endParaRPr lang="en-US" sz="1800" dirty="0"/>
          </a:p>
        </p:txBody>
      </p:sp>
      <p:sp>
        <p:nvSpPr>
          <p:cNvPr id="6" name="Text 4"/>
          <p:cNvSpPr/>
          <p:nvPr/>
        </p:nvSpPr>
        <p:spPr>
          <a:xfrm>
            <a:off x="761981" y="2531170"/>
            <a:ext cx="2641435" cy="612973"/>
          </a:xfrm>
          <a:prstGeom prst="rect">
            <a:avLst/>
          </a:prstGeom>
          <a:noFill/>
          <a:ln/>
        </p:spPr>
        <p:txBody>
          <a:bodyPr wrap="square" lIns="0" tIns="0" rIns="0" bIns="0" rtlCol="0" anchor="t">
            <a:normAutofit/>
          </a:bodyPr>
          <a:lstStyle/>
          <a:p>
            <a:pPr algn="l" indent="0" marL="0">
              <a:lnSpc>
                <a:spcPct val="118000"/>
              </a:lnSpc>
              <a:buNone/>
            </a:pPr>
            <a:r>
              <a:rPr lang="en-US" sz="1700" dirty="0">
                <a:solidFill>
                  <a:srgbClr val="EEF0FF"/>
                </a:solidFill>
                <a:latin typeface="Lexend" pitchFamily="34" charset="0"/>
                <a:ea typeface="Lexend" pitchFamily="34" charset="-122"/>
                <a:cs typeface="Lexend" pitchFamily="34" charset="-120"/>
              </a:rPr>
              <a:t>Equipment failures interrupt supply.</a:t>
            </a:r>
            <a:endParaRPr lang="en-US" sz="1700" dirty="0"/>
          </a:p>
        </p:txBody>
      </p:sp>
      <p:sp>
        <p:nvSpPr>
          <p:cNvPr id="7" name="Shape 5"/>
          <p:cNvSpPr/>
          <p:nvPr/>
        </p:nvSpPr>
        <p:spPr>
          <a:xfrm>
            <a:off x="3911403" y="1875234"/>
            <a:ext cx="3047924" cy="1833166"/>
          </a:xfrm>
          <a:prstGeom prst="rect">
            <a:avLst/>
          </a:prstGeom>
          <a:solidFill>
            <a:srgbClr val="262D92"/>
          </a:solidFill>
          <a:ln/>
          <a:effectLst>
            <a:outerShdw sx="100000" sy="100000" kx="0" ky="0" algn="bl" rotWithShape="0" blurRad="278130" dist="127" dir="16200000">
              <a:srgbClr val="b7bceb">
                <a:alpha val="20000"/>
              </a:srgbClr>
            </a:outerShdw>
          </a:effectLst>
        </p:spPr>
      </p:sp>
      <p:sp>
        <p:nvSpPr>
          <p:cNvPr id="8" name="Text 6"/>
          <p:cNvSpPr/>
          <p:nvPr/>
        </p:nvSpPr>
        <p:spPr>
          <a:xfrm>
            <a:off x="4114598" y="2078434"/>
            <a:ext cx="2641534" cy="297160"/>
          </a:xfrm>
          <a:prstGeom prst="rect">
            <a:avLst/>
          </a:prstGeom>
          <a:noFill/>
          <a:ln/>
        </p:spPr>
        <p:txBody>
          <a:bodyPr wrap="none" lIns="0" tIns="0" rIns="0" bIns="0" rtlCol="0" anchor="t"/>
          <a:lstStyle/>
          <a:p>
            <a:pPr algn="l" indent="0" marL="0">
              <a:lnSpc>
                <a:spcPct val="108000"/>
              </a:lnSpc>
              <a:buNone/>
            </a:pPr>
            <a:r>
              <a:rPr lang="en-US" sz="1800" dirty="0">
                <a:solidFill>
                  <a:srgbClr val="EEF0FF"/>
                </a:solidFill>
                <a:latin typeface="Lexend" pitchFamily="34" charset="0"/>
                <a:ea typeface="Lexend" pitchFamily="34" charset="-122"/>
                <a:cs typeface="Lexend" pitchFamily="34" charset="-120"/>
              </a:rPr>
              <a:t>Renewable uncertainty</a:t>
            </a:r>
            <a:endParaRPr lang="en-US" sz="1800" dirty="0"/>
          </a:p>
        </p:txBody>
      </p:sp>
      <p:sp>
        <p:nvSpPr>
          <p:cNvPr id="9" name="Text 7"/>
          <p:cNvSpPr/>
          <p:nvPr/>
        </p:nvSpPr>
        <p:spPr>
          <a:xfrm>
            <a:off x="4114598" y="2531170"/>
            <a:ext cx="2641534" cy="612973"/>
          </a:xfrm>
          <a:prstGeom prst="rect">
            <a:avLst/>
          </a:prstGeom>
          <a:noFill/>
          <a:ln/>
        </p:spPr>
        <p:txBody>
          <a:bodyPr wrap="square" lIns="0" tIns="0" rIns="0" bIns="0" rtlCol="0" anchor="t">
            <a:normAutofit/>
          </a:bodyPr>
          <a:lstStyle/>
          <a:p>
            <a:pPr algn="l" indent="0" marL="0">
              <a:lnSpc>
                <a:spcPct val="118000"/>
              </a:lnSpc>
              <a:buNone/>
            </a:pPr>
            <a:r>
              <a:rPr lang="en-US" sz="1700" dirty="0">
                <a:solidFill>
                  <a:srgbClr val="EEF0FF"/>
                </a:solidFill>
                <a:latin typeface="Lexend" pitchFamily="34" charset="0"/>
                <a:ea typeface="Lexend" pitchFamily="34" charset="-122"/>
                <a:cs typeface="Lexend" pitchFamily="34" charset="-120"/>
              </a:rPr>
              <a:t>Solar and wind change the operating picture.</a:t>
            </a:r>
            <a:endParaRPr lang="en-US" sz="1700" dirty="0"/>
          </a:p>
        </p:txBody>
      </p:sp>
      <p:sp>
        <p:nvSpPr>
          <p:cNvPr id="10" name="Shape 8"/>
          <p:cNvSpPr/>
          <p:nvPr/>
        </p:nvSpPr>
        <p:spPr>
          <a:xfrm>
            <a:off x="558786" y="4013200"/>
            <a:ext cx="3047825" cy="1833265"/>
          </a:xfrm>
          <a:prstGeom prst="rect">
            <a:avLst/>
          </a:prstGeom>
          <a:solidFill>
            <a:srgbClr val="262D92"/>
          </a:solidFill>
          <a:ln/>
          <a:effectLst>
            <a:outerShdw sx="100000" sy="100000" kx="0" ky="0" algn="bl" rotWithShape="0" blurRad="278130" dist="127" dir="16200000">
              <a:srgbClr val="b7bceb">
                <a:alpha val="20000"/>
              </a:srgbClr>
            </a:outerShdw>
          </a:effectLst>
        </p:spPr>
      </p:sp>
      <p:sp>
        <p:nvSpPr>
          <p:cNvPr id="11" name="Text 9"/>
          <p:cNvSpPr/>
          <p:nvPr/>
        </p:nvSpPr>
        <p:spPr>
          <a:xfrm>
            <a:off x="761981" y="4216400"/>
            <a:ext cx="2641435" cy="297160"/>
          </a:xfrm>
          <a:prstGeom prst="rect">
            <a:avLst/>
          </a:prstGeom>
          <a:noFill/>
          <a:ln/>
        </p:spPr>
        <p:txBody>
          <a:bodyPr wrap="none" lIns="0" tIns="0" rIns="0" bIns="0" rtlCol="0" anchor="t"/>
          <a:lstStyle/>
          <a:p>
            <a:pPr algn="l" indent="0" marL="0">
              <a:lnSpc>
                <a:spcPct val="108000"/>
              </a:lnSpc>
              <a:buNone/>
            </a:pPr>
            <a:r>
              <a:rPr lang="en-US" sz="1800" dirty="0">
                <a:solidFill>
                  <a:srgbClr val="EEF0FF"/>
                </a:solidFill>
                <a:latin typeface="Lexend" pitchFamily="34" charset="0"/>
                <a:ea typeface="Lexend" pitchFamily="34" charset="-122"/>
                <a:cs typeface="Lexend" pitchFamily="34" charset="-120"/>
              </a:rPr>
              <a:t>Slow fault detection</a:t>
            </a:r>
            <a:endParaRPr lang="en-US" sz="1800" dirty="0"/>
          </a:p>
        </p:txBody>
      </p:sp>
      <p:sp>
        <p:nvSpPr>
          <p:cNvPr id="12" name="Text 10"/>
          <p:cNvSpPr/>
          <p:nvPr/>
        </p:nvSpPr>
        <p:spPr>
          <a:xfrm>
            <a:off x="761981" y="4669135"/>
            <a:ext cx="2641435" cy="612973"/>
          </a:xfrm>
          <a:prstGeom prst="rect">
            <a:avLst/>
          </a:prstGeom>
          <a:noFill/>
          <a:ln/>
        </p:spPr>
        <p:txBody>
          <a:bodyPr wrap="square" lIns="0" tIns="0" rIns="0" bIns="0" rtlCol="0" anchor="t">
            <a:normAutofit/>
          </a:bodyPr>
          <a:lstStyle/>
          <a:p>
            <a:pPr algn="l" indent="0" marL="0">
              <a:lnSpc>
                <a:spcPct val="118000"/>
              </a:lnSpc>
              <a:buNone/>
            </a:pPr>
            <a:r>
              <a:rPr lang="en-US" sz="1700" dirty="0">
                <a:solidFill>
                  <a:srgbClr val="EEF0FF"/>
                </a:solidFill>
                <a:latin typeface="Lexend" pitchFamily="34" charset="0"/>
                <a:ea typeface="Lexend" pitchFamily="34" charset="-122"/>
                <a:cs typeface="Lexend" pitchFamily="34" charset="-120"/>
              </a:rPr>
              <a:t>Manual inspections delay response.</a:t>
            </a:r>
            <a:endParaRPr lang="en-US" sz="1700" dirty="0"/>
          </a:p>
        </p:txBody>
      </p:sp>
      <p:sp>
        <p:nvSpPr>
          <p:cNvPr id="13" name="Shape 11"/>
          <p:cNvSpPr/>
          <p:nvPr/>
        </p:nvSpPr>
        <p:spPr>
          <a:xfrm>
            <a:off x="3911403" y="4013200"/>
            <a:ext cx="3047924" cy="1833265"/>
          </a:xfrm>
          <a:prstGeom prst="rect">
            <a:avLst/>
          </a:prstGeom>
          <a:solidFill>
            <a:srgbClr val="262D92"/>
          </a:solidFill>
          <a:ln/>
          <a:effectLst>
            <a:outerShdw sx="100000" sy="100000" kx="0" ky="0" algn="bl" rotWithShape="0" blurRad="278130" dist="127" dir="16200000">
              <a:srgbClr val="b7bceb">
                <a:alpha val="20000"/>
              </a:srgbClr>
            </a:outerShdw>
          </a:effectLst>
        </p:spPr>
      </p:sp>
      <p:sp>
        <p:nvSpPr>
          <p:cNvPr id="14" name="Text 12"/>
          <p:cNvSpPr/>
          <p:nvPr/>
        </p:nvSpPr>
        <p:spPr>
          <a:xfrm>
            <a:off x="4114598" y="4216400"/>
            <a:ext cx="2641534" cy="297160"/>
          </a:xfrm>
          <a:prstGeom prst="rect">
            <a:avLst/>
          </a:prstGeom>
          <a:noFill/>
          <a:ln/>
        </p:spPr>
        <p:txBody>
          <a:bodyPr wrap="none" lIns="0" tIns="0" rIns="0" bIns="0" rtlCol="0" anchor="t"/>
          <a:lstStyle/>
          <a:p>
            <a:pPr algn="l" indent="0" marL="0">
              <a:lnSpc>
                <a:spcPct val="108000"/>
              </a:lnSpc>
              <a:buNone/>
            </a:pPr>
            <a:r>
              <a:rPr lang="en-US" sz="1800" dirty="0">
                <a:solidFill>
                  <a:srgbClr val="EEF0FF"/>
                </a:solidFill>
                <a:latin typeface="Lexend" pitchFamily="34" charset="0"/>
                <a:ea typeface="Lexend" pitchFamily="34" charset="-122"/>
                <a:cs typeface="Lexend" pitchFamily="34" charset="-120"/>
              </a:rPr>
              <a:t>Fragmented grid data</a:t>
            </a:r>
            <a:endParaRPr lang="en-US" sz="1800" dirty="0"/>
          </a:p>
        </p:txBody>
      </p:sp>
      <p:sp>
        <p:nvSpPr>
          <p:cNvPr id="15" name="Text 13"/>
          <p:cNvSpPr/>
          <p:nvPr/>
        </p:nvSpPr>
        <p:spPr>
          <a:xfrm>
            <a:off x="4114598" y="4669135"/>
            <a:ext cx="2641534" cy="612973"/>
          </a:xfrm>
          <a:prstGeom prst="rect">
            <a:avLst/>
          </a:prstGeom>
          <a:noFill/>
          <a:ln/>
        </p:spPr>
        <p:txBody>
          <a:bodyPr wrap="square" lIns="0" tIns="0" rIns="0" bIns="0" rtlCol="0" anchor="t">
            <a:normAutofit/>
          </a:bodyPr>
          <a:lstStyle/>
          <a:p>
            <a:pPr algn="l" indent="0" marL="0">
              <a:lnSpc>
                <a:spcPct val="118000"/>
              </a:lnSpc>
              <a:buNone/>
            </a:pPr>
            <a:r>
              <a:rPr lang="en-US" sz="1700" dirty="0">
                <a:solidFill>
                  <a:srgbClr val="EEF0FF"/>
                </a:solidFill>
                <a:latin typeface="Lexend" pitchFamily="34" charset="0"/>
                <a:ea typeface="Lexend" pitchFamily="34" charset="-122"/>
                <a:cs typeface="Lexend" pitchFamily="34" charset="-120"/>
              </a:rPr>
              <a:t>Energy losses stay hard to locate.</a:t>
            </a:r>
            <a:endParaRPr lang="en-US" sz="1700" dirty="0"/>
          </a:p>
        </p:txBody>
      </p:sp>
      <p:sp>
        <p:nvSpPr>
          <p:cNvPr id="16" name="Text 14"/>
          <p:cNvSpPr/>
          <p:nvPr/>
        </p:nvSpPr>
        <p:spPr>
          <a:xfrm>
            <a:off x="558786" y="6040140"/>
            <a:ext cx="6756231" cy="360660"/>
          </a:xfrm>
          <a:prstGeom prst="rect">
            <a:avLst/>
          </a:prstGeom>
          <a:noFill/>
          <a:ln/>
        </p:spPr>
        <p:txBody>
          <a:bodyPr wrap="none" lIns="0" tIns="0" rIns="0" bIns="0" rtlCol="0" anchor="t"/>
          <a:lstStyle/>
          <a:p>
            <a:pPr algn="l" indent="0" marL="0">
              <a:lnSpc>
                <a:spcPct val="118000"/>
              </a:lnSpc>
              <a:buNone/>
            </a:pPr>
            <a:r>
              <a:rPr lang="en-US" sz="2000" dirty="0">
                <a:solidFill>
                  <a:srgbClr val="4F8DF5"/>
                </a:solidFill>
                <a:latin typeface="Lexend" pitchFamily="34" charset="0"/>
                <a:ea typeface="Lexend" pitchFamily="34" charset="-122"/>
                <a:cs typeface="Lexend" pitchFamily="34" charset="-120"/>
              </a:rPr>
              <a:t>Signals arrive, decisions lag.</a:t>
            </a:r>
            <a:endParaRPr lang="en-US" sz="2000" dirty="0"/>
          </a:p>
        </p:txBody>
      </p:sp>
      <p:pic>
        <p:nvPicPr>
          <p:cNvPr id="17" name="Image 0" descr="preencoded.png">    </p:cNvPr>
          <p:cNvPicPr>
            <a:picLocks noChangeAspect="1"/>
          </p:cNvPicPr>
          <p:nvPr/>
        </p:nvPicPr>
        <p:blipFill>
          <a:blip r:embed="rId1"/>
          <a:stretch>
            <a:fillRect/>
          </a:stretch>
        </p:blipFill>
        <p:spPr>
          <a:xfrm>
            <a:off x="7315017" y="0"/>
            <a:ext cx="4876678" cy="6858000"/>
          </a:xfrm>
          <a:prstGeom prst="rect">
            <a:avLst/>
          </a:prstGeom>
        </p:spPr>
      </p:pic>
      <p:pic>
        <p:nvPicPr>
          <p:cNvPr id="18" name="Image 1" descr="preencoded.png">    </p:cNvPr>
          <p:cNvPicPr>
            <a:picLocks noChangeAspect="1"/>
          </p:cNvPicPr>
          <p:nvPr/>
        </p:nvPicPr>
        <p:blipFill>
          <a:blip r:embed="rId2"/>
          <a:stretch>
            <a:fillRect/>
          </a:stretch>
        </p:blipFill>
        <p:spPr>
          <a:xfrm>
            <a:off x="7429314" y="114300"/>
            <a:ext cx="4648084" cy="6629400"/>
          </a:xfrm>
          <a:prstGeom prst="rect">
            <a:avLst/>
          </a:prstGeom>
        </p:spPr>
      </p:pic>
      <p:pic>
        <p:nvPicPr>
          <p:cNvPr id="19" name="Image 2" descr="preencoded.png">    </p:cNvPr>
          <p:cNvPicPr>
            <a:picLocks noChangeAspect="1"/>
          </p:cNvPicPr>
          <p:nvPr/>
        </p:nvPicPr>
        <p:blipFill>
          <a:blip r:embed="rId3"/>
          <a:stretch>
            <a:fillRect/>
          </a:stretch>
        </p:blipFill>
        <p:spPr>
          <a:xfrm>
            <a:off x="0" y="0"/>
            <a:ext cx="12191695" cy="5913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58786" y="457200"/>
            <a:ext cx="11632909" cy="213320"/>
          </a:xfrm>
          <a:prstGeom prst="rect">
            <a:avLst/>
          </a:prstGeom>
          <a:noFill/>
          <a:ln/>
        </p:spPr>
        <p:txBody>
          <a:bodyPr wrap="none" lIns="0" tIns="0" rIns="0" bIns="0" rtlCol="0" anchor="t"/>
          <a:lstStyle/>
          <a:p>
            <a:pPr algn="l" indent="0" marL="0">
              <a:lnSpc>
                <a:spcPct val="100000"/>
              </a:lnSpc>
              <a:buNone/>
            </a:pPr>
            <a:r>
              <a:rPr lang="en-US" sz="1400" spc="42" kern="100" dirty="0">
                <a:solidFill>
                  <a:srgbClr val="F4C45A"/>
                </a:solidFill>
                <a:latin typeface="Azeret Mono Medium" pitchFamily="34" charset="0"/>
                <a:ea typeface="Azeret Mono Medium" pitchFamily="34" charset="-122"/>
                <a:cs typeface="Azeret Mono Medium" pitchFamily="34" charset="-120"/>
              </a:rPr>
              <a:t>SIMULATE BEFORE YOU ACT</a:t>
            </a:r>
            <a:endParaRPr lang="en-US" sz="1400" dirty="0"/>
          </a:p>
        </p:txBody>
      </p:sp>
      <p:sp>
        <p:nvSpPr>
          <p:cNvPr id="3" name="Text 1"/>
          <p:cNvSpPr/>
          <p:nvPr/>
        </p:nvSpPr>
        <p:spPr>
          <a:xfrm>
            <a:off x="558786" y="756245"/>
            <a:ext cx="11074123" cy="877689"/>
          </a:xfrm>
          <a:prstGeom prst="rect">
            <a:avLst/>
          </a:prstGeom>
          <a:noFill/>
          <a:ln/>
        </p:spPr>
        <p:txBody>
          <a:bodyPr wrap="square" lIns="0" tIns="0" rIns="0" bIns="0" rtlCol="0" anchor="t">
            <a:normAutofit/>
          </a:bodyPr>
          <a:lstStyle/>
          <a:p>
            <a:pPr algn="l" indent="0" marL="0">
              <a:lnSpc>
                <a:spcPct val="90000"/>
              </a:lnSpc>
              <a:buNone/>
            </a:pPr>
            <a:r>
              <a:rPr lang="en-US" sz="3200" spc="-32" kern="100" dirty="0">
                <a:solidFill>
                  <a:srgbClr val="F4C45A"/>
                </a:solidFill>
                <a:latin typeface="Krona One" pitchFamily="34" charset="0"/>
                <a:ea typeface="Krona One" pitchFamily="34" charset="-122"/>
                <a:cs typeface="Krona One" pitchFamily="34" charset="-120"/>
              </a:rPr>
              <a:t>One digital twin predicts problems before they happen</a:t>
            </a:r>
            <a:endParaRPr lang="en-US" sz="3200" dirty="0"/>
          </a:p>
        </p:txBody>
      </p:sp>
      <p:sp>
        <p:nvSpPr>
          <p:cNvPr id="4" name="Text 2"/>
          <p:cNvSpPr/>
          <p:nvPr/>
        </p:nvSpPr>
        <p:spPr>
          <a:xfrm>
            <a:off x="558786" y="1849834"/>
            <a:ext cx="867646" cy="215900"/>
          </a:xfrm>
          <a:prstGeom prst="rect">
            <a:avLst/>
          </a:prstGeom>
          <a:noFill/>
          <a:ln/>
        </p:spPr>
        <p:txBody>
          <a:bodyPr wrap="none" lIns="0" tIns="0" rIns="0" bIns="0" rtlCol="0" anchor="t"/>
          <a:lstStyle/>
          <a:p>
            <a:pPr algn="l" indent="0" marL="0">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01</a:t>
            </a:r>
            <a:endParaRPr lang="en-US" sz="1700" dirty="0"/>
          </a:p>
        </p:txBody>
      </p:sp>
      <p:sp>
        <p:nvSpPr>
          <p:cNvPr id="5" name="Shape 3"/>
          <p:cNvSpPr/>
          <p:nvPr/>
        </p:nvSpPr>
        <p:spPr>
          <a:xfrm>
            <a:off x="558786" y="2152055"/>
            <a:ext cx="1718624" cy="19050"/>
          </a:xfrm>
          <a:prstGeom prst="rect">
            <a:avLst/>
          </a:prstGeom>
          <a:solidFill>
            <a:srgbClr val="F4C45A"/>
          </a:solidFill>
          <a:ln/>
        </p:spPr>
      </p:sp>
      <p:sp>
        <p:nvSpPr>
          <p:cNvPr id="6" name="Text 4"/>
          <p:cNvSpPr/>
          <p:nvPr/>
        </p:nvSpPr>
        <p:spPr>
          <a:xfrm>
            <a:off x="558786" y="2300585"/>
            <a:ext cx="1718624" cy="297160"/>
          </a:xfrm>
          <a:prstGeom prst="rect">
            <a:avLst/>
          </a:prstGeom>
          <a:noFill/>
          <a:ln/>
        </p:spPr>
        <p:txBody>
          <a:bodyPr wrap="none" lIns="0" tIns="0" rIns="0" bIns="0" rtlCol="0" anchor="t"/>
          <a:lstStyle/>
          <a:p>
            <a:pPr algn="l" indent="0" marL="0">
              <a:lnSpc>
                <a:spcPct val="108000"/>
              </a:lnSpc>
              <a:buNone/>
            </a:pPr>
            <a:r>
              <a:rPr lang="en-US" sz="1800" dirty="0">
                <a:solidFill>
                  <a:srgbClr val="F4C45A"/>
                </a:solidFill>
                <a:latin typeface="Lexend" pitchFamily="34" charset="0"/>
                <a:ea typeface="Lexend" pitchFamily="34" charset="-122"/>
                <a:cs typeface="Lexend" pitchFamily="34" charset="-120"/>
              </a:rPr>
              <a:t>Sensors</a:t>
            </a:r>
            <a:endParaRPr lang="en-US" sz="1800" dirty="0"/>
          </a:p>
        </p:txBody>
      </p:sp>
      <p:sp>
        <p:nvSpPr>
          <p:cNvPr id="7" name="Text 5"/>
          <p:cNvSpPr/>
          <p:nvPr/>
        </p:nvSpPr>
        <p:spPr>
          <a:xfrm>
            <a:off x="558786" y="2753320"/>
            <a:ext cx="1718624" cy="270470"/>
          </a:xfrm>
          <a:prstGeom prst="rect">
            <a:avLst/>
          </a:prstGeom>
          <a:noFill/>
          <a:ln/>
        </p:spPr>
        <p:txBody>
          <a:bodyPr wrap="none" lIns="0" tIns="0" rIns="0" bIns="0" rtlCol="0" anchor="t"/>
          <a:lstStyle/>
          <a:p>
            <a:pPr algn="l" indent="0" marL="0">
              <a:lnSpc>
                <a:spcPct val="118000"/>
              </a:lnSpc>
              <a:buNone/>
            </a:pPr>
            <a:r>
              <a:rPr lang="en-US" sz="1500" dirty="0">
                <a:solidFill>
                  <a:srgbClr val="EEF0FF"/>
                </a:solidFill>
                <a:latin typeface="Lexend" pitchFamily="34" charset="0"/>
                <a:ea typeface="Lexend" pitchFamily="34" charset="-122"/>
                <a:cs typeface="Lexend" pitchFamily="34" charset="-120"/>
              </a:rPr>
              <a:t>Capture</a:t>
            </a:r>
            <a:endParaRPr lang="en-US" sz="1500" dirty="0"/>
          </a:p>
        </p:txBody>
      </p:sp>
      <p:sp>
        <p:nvSpPr>
          <p:cNvPr id="8" name="Text 6"/>
          <p:cNvSpPr/>
          <p:nvPr/>
        </p:nvSpPr>
        <p:spPr>
          <a:xfrm>
            <a:off x="2429806" y="1849834"/>
            <a:ext cx="868936" cy="215900"/>
          </a:xfrm>
          <a:prstGeom prst="rect">
            <a:avLst/>
          </a:prstGeom>
          <a:noFill/>
          <a:ln/>
        </p:spPr>
        <p:txBody>
          <a:bodyPr wrap="none" lIns="0" tIns="0" rIns="0" bIns="0" rtlCol="0" anchor="t"/>
          <a:lstStyle/>
          <a:p>
            <a:pPr algn="l" indent="0" marL="0">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02</a:t>
            </a:r>
            <a:endParaRPr lang="en-US" sz="1700" dirty="0"/>
          </a:p>
        </p:txBody>
      </p:sp>
      <p:sp>
        <p:nvSpPr>
          <p:cNvPr id="9" name="Shape 7"/>
          <p:cNvSpPr/>
          <p:nvPr/>
        </p:nvSpPr>
        <p:spPr>
          <a:xfrm>
            <a:off x="2429806" y="2152055"/>
            <a:ext cx="1718723" cy="19050"/>
          </a:xfrm>
          <a:prstGeom prst="rect">
            <a:avLst/>
          </a:prstGeom>
          <a:solidFill>
            <a:srgbClr val="F4C45A"/>
          </a:solidFill>
          <a:ln/>
        </p:spPr>
      </p:sp>
      <p:sp>
        <p:nvSpPr>
          <p:cNvPr id="10" name="Text 8"/>
          <p:cNvSpPr/>
          <p:nvPr/>
        </p:nvSpPr>
        <p:spPr>
          <a:xfrm>
            <a:off x="2429806" y="2300585"/>
            <a:ext cx="1718723" cy="297160"/>
          </a:xfrm>
          <a:prstGeom prst="rect">
            <a:avLst/>
          </a:prstGeom>
          <a:noFill/>
          <a:ln/>
        </p:spPr>
        <p:txBody>
          <a:bodyPr wrap="none" lIns="0" tIns="0" rIns="0" bIns="0" rtlCol="0" anchor="t"/>
          <a:lstStyle/>
          <a:p>
            <a:pPr algn="l" indent="0" marL="0">
              <a:lnSpc>
                <a:spcPct val="108000"/>
              </a:lnSpc>
              <a:buNone/>
            </a:pPr>
            <a:r>
              <a:rPr lang="en-US" sz="1800" dirty="0">
                <a:solidFill>
                  <a:srgbClr val="F4C45A"/>
                </a:solidFill>
                <a:latin typeface="Lexend" pitchFamily="34" charset="0"/>
                <a:ea typeface="Lexend" pitchFamily="34" charset="-122"/>
                <a:cs typeface="Lexend" pitchFamily="34" charset="-120"/>
              </a:rPr>
              <a:t>IoT/SCADA</a:t>
            </a:r>
            <a:endParaRPr lang="en-US" sz="1800" dirty="0"/>
          </a:p>
        </p:txBody>
      </p:sp>
      <p:sp>
        <p:nvSpPr>
          <p:cNvPr id="11" name="Text 9"/>
          <p:cNvSpPr/>
          <p:nvPr/>
        </p:nvSpPr>
        <p:spPr>
          <a:xfrm>
            <a:off x="2429806" y="2753320"/>
            <a:ext cx="1718723" cy="270470"/>
          </a:xfrm>
          <a:prstGeom prst="rect">
            <a:avLst/>
          </a:prstGeom>
          <a:noFill/>
          <a:ln/>
        </p:spPr>
        <p:txBody>
          <a:bodyPr wrap="none" lIns="0" tIns="0" rIns="0" bIns="0" rtlCol="0" anchor="t"/>
          <a:lstStyle/>
          <a:p>
            <a:pPr algn="l" indent="0" marL="0">
              <a:lnSpc>
                <a:spcPct val="118000"/>
              </a:lnSpc>
              <a:buNone/>
            </a:pPr>
            <a:r>
              <a:rPr lang="en-US" sz="1500" dirty="0">
                <a:solidFill>
                  <a:srgbClr val="EEF0FF"/>
                </a:solidFill>
                <a:latin typeface="Lexend" pitchFamily="34" charset="0"/>
                <a:ea typeface="Lexend" pitchFamily="34" charset="-122"/>
                <a:cs typeface="Lexend" pitchFamily="34" charset="-120"/>
              </a:rPr>
              <a:t>Connect</a:t>
            </a:r>
            <a:endParaRPr lang="en-US" sz="1500" dirty="0"/>
          </a:p>
        </p:txBody>
      </p:sp>
      <p:sp>
        <p:nvSpPr>
          <p:cNvPr id="12" name="Text 10"/>
          <p:cNvSpPr/>
          <p:nvPr/>
        </p:nvSpPr>
        <p:spPr>
          <a:xfrm>
            <a:off x="4300926" y="1849834"/>
            <a:ext cx="873897" cy="215900"/>
          </a:xfrm>
          <a:prstGeom prst="rect">
            <a:avLst/>
          </a:prstGeom>
          <a:noFill/>
          <a:ln/>
        </p:spPr>
        <p:txBody>
          <a:bodyPr wrap="none" lIns="0" tIns="0" rIns="0" bIns="0" rtlCol="0" anchor="t"/>
          <a:lstStyle/>
          <a:p>
            <a:pPr algn="l" indent="0" marL="0">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03</a:t>
            </a:r>
            <a:endParaRPr lang="en-US" sz="1700" dirty="0"/>
          </a:p>
        </p:txBody>
      </p:sp>
      <p:sp>
        <p:nvSpPr>
          <p:cNvPr id="13" name="Shape 11"/>
          <p:cNvSpPr/>
          <p:nvPr/>
        </p:nvSpPr>
        <p:spPr>
          <a:xfrm>
            <a:off x="4300926" y="2152055"/>
            <a:ext cx="1718723" cy="19050"/>
          </a:xfrm>
          <a:prstGeom prst="rect">
            <a:avLst/>
          </a:prstGeom>
          <a:solidFill>
            <a:srgbClr val="F4C45A"/>
          </a:solidFill>
          <a:ln/>
        </p:spPr>
      </p:sp>
      <p:sp>
        <p:nvSpPr>
          <p:cNvPr id="14" name="Text 12"/>
          <p:cNvSpPr/>
          <p:nvPr/>
        </p:nvSpPr>
        <p:spPr>
          <a:xfrm>
            <a:off x="4300926" y="2300585"/>
            <a:ext cx="1718723" cy="297160"/>
          </a:xfrm>
          <a:prstGeom prst="rect">
            <a:avLst/>
          </a:prstGeom>
          <a:noFill/>
          <a:ln/>
        </p:spPr>
        <p:txBody>
          <a:bodyPr wrap="none" lIns="0" tIns="0" rIns="0" bIns="0" rtlCol="0" anchor="t"/>
          <a:lstStyle/>
          <a:p>
            <a:pPr algn="l" indent="0" marL="0">
              <a:lnSpc>
                <a:spcPct val="108000"/>
              </a:lnSpc>
              <a:buNone/>
            </a:pPr>
            <a:r>
              <a:rPr lang="en-US" sz="1800" dirty="0">
                <a:solidFill>
                  <a:srgbClr val="F4C45A"/>
                </a:solidFill>
                <a:latin typeface="Lexend" pitchFamily="34" charset="0"/>
                <a:ea typeface="Lexend" pitchFamily="34" charset="-122"/>
                <a:cs typeface="Lexend" pitchFamily="34" charset="-120"/>
              </a:rPr>
              <a:t>AI Engine</a:t>
            </a:r>
            <a:endParaRPr lang="en-US" sz="1800" dirty="0"/>
          </a:p>
        </p:txBody>
      </p:sp>
      <p:sp>
        <p:nvSpPr>
          <p:cNvPr id="15" name="Text 13"/>
          <p:cNvSpPr/>
          <p:nvPr/>
        </p:nvSpPr>
        <p:spPr>
          <a:xfrm>
            <a:off x="4300926" y="2753320"/>
            <a:ext cx="1718723" cy="270470"/>
          </a:xfrm>
          <a:prstGeom prst="rect">
            <a:avLst/>
          </a:prstGeom>
          <a:noFill/>
          <a:ln/>
        </p:spPr>
        <p:txBody>
          <a:bodyPr wrap="none" lIns="0" tIns="0" rIns="0" bIns="0" rtlCol="0" anchor="t"/>
          <a:lstStyle/>
          <a:p>
            <a:pPr algn="l" indent="0" marL="0">
              <a:lnSpc>
                <a:spcPct val="118000"/>
              </a:lnSpc>
              <a:buNone/>
            </a:pPr>
            <a:r>
              <a:rPr lang="en-US" sz="1500" dirty="0">
                <a:solidFill>
                  <a:srgbClr val="EEF0FF"/>
                </a:solidFill>
                <a:latin typeface="Lexend" pitchFamily="34" charset="0"/>
                <a:ea typeface="Lexend" pitchFamily="34" charset="-122"/>
                <a:cs typeface="Lexend" pitchFamily="34" charset="-120"/>
              </a:rPr>
              <a:t>Analyze</a:t>
            </a:r>
            <a:endParaRPr lang="en-US" sz="1500" dirty="0"/>
          </a:p>
        </p:txBody>
      </p:sp>
      <p:sp>
        <p:nvSpPr>
          <p:cNvPr id="16" name="Text 14"/>
          <p:cNvSpPr/>
          <p:nvPr/>
        </p:nvSpPr>
        <p:spPr>
          <a:xfrm>
            <a:off x="6172046" y="1849834"/>
            <a:ext cx="890466" cy="215900"/>
          </a:xfrm>
          <a:prstGeom prst="rect">
            <a:avLst/>
          </a:prstGeom>
          <a:noFill/>
          <a:ln/>
        </p:spPr>
        <p:txBody>
          <a:bodyPr wrap="none" lIns="0" tIns="0" rIns="0" bIns="0" rtlCol="0" anchor="t"/>
          <a:lstStyle/>
          <a:p>
            <a:pPr algn="l" indent="0" marL="0">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04</a:t>
            </a:r>
            <a:endParaRPr lang="en-US" sz="1700" dirty="0"/>
          </a:p>
        </p:txBody>
      </p:sp>
      <p:sp>
        <p:nvSpPr>
          <p:cNvPr id="17" name="Shape 15"/>
          <p:cNvSpPr/>
          <p:nvPr/>
        </p:nvSpPr>
        <p:spPr>
          <a:xfrm>
            <a:off x="6172046" y="2152055"/>
            <a:ext cx="1718624" cy="19050"/>
          </a:xfrm>
          <a:prstGeom prst="rect">
            <a:avLst/>
          </a:prstGeom>
          <a:solidFill>
            <a:srgbClr val="F4C45A"/>
          </a:solidFill>
          <a:ln/>
        </p:spPr>
      </p:sp>
      <p:sp>
        <p:nvSpPr>
          <p:cNvPr id="18" name="Text 16"/>
          <p:cNvSpPr/>
          <p:nvPr/>
        </p:nvSpPr>
        <p:spPr>
          <a:xfrm>
            <a:off x="6172046" y="2300585"/>
            <a:ext cx="1718624" cy="297160"/>
          </a:xfrm>
          <a:prstGeom prst="rect">
            <a:avLst/>
          </a:prstGeom>
          <a:noFill/>
          <a:ln/>
        </p:spPr>
        <p:txBody>
          <a:bodyPr wrap="none" lIns="0" tIns="0" rIns="0" bIns="0" rtlCol="0" anchor="t"/>
          <a:lstStyle/>
          <a:p>
            <a:pPr algn="l" indent="0" marL="0">
              <a:lnSpc>
                <a:spcPct val="108000"/>
              </a:lnSpc>
              <a:buNone/>
            </a:pPr>
            <a:r>
              <a:rPr lang="en-US" sz="1800" dirty="0">
                <a:solidFill>
                  <a:srgbClr val="F4C45A"/>
                </a:solidFill>
                <a:latin typeface="Lexend" pitchFamily="34" charset="0"/>
                <a:ea typeface="Lexend" pitchFamily="34" charset="-122"/>
                <a:cs typeface="Lexend" pitchFamily="34" charset="-120"/>
              </a:rPr>
              <a:t>Digital Twin</a:t>
            </a:r>
            <a:endParaRPr lang="en-US" sz="1800" dirty="0"/>
          </a:p>
        </p:txBody>
      </p:sp>
      <p:sp>
        <p:nvSpPr>
          <p:cNvPr id="19" name="Text 17"/>
          <p:cNvSpPr/>
          <p:nvPr/>
        </p:nvSpPr>
        <p:spPr>
          <a:xfrm>
            <a:off x="6172046" y="2753320"/>
            <a:ext cx="1718624" cy="270470"/>
          </a:xfrm>
          <a:prstGeom prst="rect">
            <a:avLst/>
          </a:prstGeom>
          <a:noFill/>
          <a:ln/>
        </p:spPr>
        <p:txBody>
          <a:bodyPr wrap="none" lIns="0" tIns="0" rIns="0" bIns="0" rtlCol="0" anchor="t"/>
          <a:lstStyle/>
          <a:p>
            <a:pPr algn="l" indent="0" marL="0">
              <a:lnSpc>
                <a:spcPct val="118000"/>
              </a:lnSpc>
              <a:buNone/>
            </a:pPr>
            <a:r>
              <a:rPr lang="en-US" sz="1500" dirty="0">
                <a:solidFill>
                  <a:srgbClr val="EEF0FF"/>
                </a:solidFill>
                <a:latin typeface="Lexend" pitchFamily="34" charset="0"/>
                <a:ea typeface="Lexend" pitchFamily="34" charset="-122"/>
                <a:cs typeface="Lexend" pitchFamily="34" charset="-120"/>
              </a:rPr>
              <a:t>Simulate</a:t>
            </a:r>
            <a:endParaRPr lang="en-US" sz="1500" dirty="0"/>
          </a:p>
        </p:txBody>
      </p:sp>
      <p:sp>
        <p:nvSpPr>
          <p:cNvPr id="20" name="Text 18"/>
          <p:cNvSpPr/>
          <p:nvPr/>
        </p:nvSpPr>
        <p:spPr>
          <a:xfrm>
            <a:off x="8043066" y="1849834"/>
            <a:ext cx="877369" cy="215900"/>
          </a:xfrm>
          <a:prstGeom prst="rect">
            <a:avLst/>
          </a:prstGeom>
          <a:noFill/>
          <a:ln/>
        </p:spPr>
        <p:txBody>
          <a:bodyPr wrap="none" lIns="0" tIns="0" rIns="0" bIns="0" rtlCol="0" anchor="t"/>
          <a:lstStyle/>
          <a:p>
            <a:pPr algn="l" indent="0" marL="0">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05</a:t>
            </a:r>
            <a:endParaRPr lang="en-US" sz="1700" dirty="0"/>
          </a:p>
        </p:txBody>
      </p:sp>
      <p:sp>
        <p:nvSpPr>
          <p:cNvPr id="21" name="Shape 19"/>
          <p:cNvSpPr/>
          <p:nvPr/>
        </p:nvSpPr>
        <p:spPr>
          <a:xfrm>
            <a:off x="8043066" y="2152055"/>
            <a:ext cx="1718723" cy="19050"/>
          </a:xfrm>
          <a:prstGeom prst="rect">
            <a:avLst/>
          </a:prstGeom>
          <a:solidFill>
            <a:srgbClr val="F4C45A"/>
          </a:solidFill>
          <a:ln/>
        </p:spPr>
      </p:sp>
      <p:sp>
        <p:nvSpPr>
          <p:cNvPr id="22" name="Text 20"/>
          <p:cNvSpPr/>
          <p:nvPr/>
        </p:nvSpPr>
        <p:spPr>
          <a:xfrm>
            <a:off x="8043066" y="2300585"/>
            <a:ext cx="1718723" cy="297160"/>
          </a:xfrm>
          <a:prstGeom prst="rect">
            <a:avLst/>
          </a:prstGeom>
          <a:noFill/>
          <a:ln/>
        </p:spPr>
        <p:txBody>
          <a:bodyPr wrap="none" lIns="0" tIns="0" rIns="0" bIns="0" rtlCol="0" anchor="t"/>
          <a:lstStyle/>
          <a:p>
            <a:pPr algn="l" indent="0" marL="0">
              <a:lnSpc>
                <a:spcPct val="108000"/>
              </a:lnSpc>
              <a:buNone/>
            </a:pPr>
            <a:r>
              <a:rPr lang="en-US" sz="1800" dirty="0">
                <a:solidFill>
                  <a:srgbClr val="F4C45A"/>
                </a:solidFill>
                <a:latin typeface="Lexend" pitchFamily="34" charset="0"/>
                <a:ea typeface="Lexend" pitchFamily="34" charset="-122"/>
                <a:cs typeface="Lexend" pitchFamily="34" charset="-120"/>
              </a:rPr>
              <a:t>Prediction</a:t>
            </a:r>
            <a:endParaRPr lang="en-US" sz="1800" dirty="0"/>
          </a:p>
        </p:txBody>
      </p:sp>
      <p:sp>
        <p:nvSpPr>
          <p:cNvPr id="23" name="Text 21"/>
          <p:cNvSpPr/>
          <p:nvPr/>
        </p:nvSpPr>
        <p:spPr>
          <a:xfrm>
            <a:off x="8043066" y="2753320"/>
            <a:ext cx="1718723" cy="270470"/>
          </a:xfrm>
          <a:prstGeom prst="rect">
            <a:avLst/>
          </a:prstGeom>
          <a:noFill/>
          <a:ln/>
        </p:spPr>
        <p:txBody>
          <a:bodyPr wrap="none" lIns="0" tIns="0" rIns="0" bIns="0" rtlCol="0" anchor="t"/>
          <a:lstStyle/>
          <a:p>
            <a:pPr algn="l" indent="0" marL="0">
              <a:lnSpc>
                <a:spcPct val="118000"/>
              </a:lnSpc>
              <a:buNone/>
            </a:pPr>
            <a:r>
              <a:rPr lang="en-US" sz="1500" dirty="0">
                <a:solidFill>
                  <a:srgbClr val="EEF0FF"/>
                </a:solidFill>
                <a:latin typeface="Lexend" pitchFamily="34" charset="0"/>
                <a:ea typeface="Lexend" pitchFamily="34" charset="-122"/>
                <a:cs typeface="Lexend" pitchFamily="34" charset="-120"/>
              </a:rPr>
              <a:t>Anticipate</a:t>
            </a:r>
            <a:endParaRPr lang="en-US" sz="1500" dirty="0"/>
          </a:p>
        </p:txBody>
      </p:sp>
      <p:sp>
        <p:nvSpPr>
          <p:cNvPr id="24" name="Text 22"/>
          <p:cNvSpPr/>
          <p:nvPr/>
        </p:nvSpPr>
        <p:spPr>
          <a:xfrm>
            <a:off x="9914186" y="1849834"/>
            <a:ext cx="874095" cy="215900"/>
          </a:xfrm>
          <a:prstGeom prst="rect">
            <a:avLst/>
          </a:prstGeom>
          <a:noFill/>
          <a:ln/>
        </p:spPr>
        <p:txBody>
          <a:bodyPr wrap="none" lIns="0" tIns="0" rIns="0" bIns="0" rtlCol="0" anchor="t"/>
          <a:lstStyle/>
          <a:p>
            <a:pPr algn="l" indent="0" marL="0">
              <a:lnSpc>
                <a:spcPct val="83000"/>
              </a:lnSpc>
              <a:buNone/>
            </a:pPr>
            <a:r>
              <a:rPr lang="en-US" sz="1700" dirty="0">
                <a:solidFill>
                  <a:srgbClr val="F4C45A"/>
                </a:solidFill>
                <a:latin typeface="Lexend SemiBold" pitchFamily="34" charset="0"/>
                <a:ea typeface="Lexend SemiBold" pitchFamily="34" charset="-122"/>
                <a:cs typeface="Lexend SemiBold" pitchFamily="34" charset="-120"/>
              </a:rPr>
              <a:t>06</a:t>
            </a:r>
            <a:endParaRPr lang="en-US" sz="1700" dirty="0"/>
          </a:p>
        </p:txBody>
      </p:sp>
      <p:sp>
        <p:nvSpPr>
          <p:cNvPr id="25" name="Shape 23"/>
          <p:cNvSpPr/>
          <p:nvPr/>
        </p:nvSpPr>
        <p:spPr>
          <a:xfrm>
            <a:off x="9914186" y="2152055"/>
            <a:ext cx="1718723" cy="19050"/>
          </a:xfrm>
          <a:prstGeom prst="rect">
            <a:avLst/>
          </a:prstGeom>
          <a:solidFill>
            <a:srgbClr val="F4C45A"/>
          </a:solidFill>
          <a:ln/>
        </p:spPr>
      </p:sp>
      <p:sp>
        <p:nvSpPr>
          <p:cNvPr id="26" name="Text 24"/>
          <p:cNvSpPr/>
          <p:nvPr/>
        </p:nvSpPr>
        <p:spPr>
          <a:xfrm>
            <a:off x="9914186" y="2300585"/>
            <a:ext cx="1718723" cy="297160"/>
          </a:xfrm>
          <a:prstGeom prst="rect">
            <a:avLst/>
          </a:prstGeom>
          <a:noFill/>
          <a:ln/>
        </p:spPr>
        <p:txBody>
          <a:bodyPr wrap="none" lIns="0" tIns="0" rIns="0" bIns="0" rtlCol="0" anchor="t"/>
          <a:lstStyle/>
          <a:p>
            <a:pPr algn="l" indent="0" marL="0">
              <a:lnSpc>
                <a:spcPct val="108000"/>
              </a:lnSpc>
              <a:buNone/>
            </a:pPr>
            <a:r>
              <a:rPr lang="en-US" sz="1800" dirty="0">
                <a:solidFill>
                  <a:srgbClr val="F4C45A"/>
                </a:solidFill>
                <a:latin typeface="Lexend" pitchFamily="34" charset="0"/>
                <a:ea typeface="Lexend" pitchFamily="34" charset="-122"/>
                <a:cs typeface="Lexend" pitchFamily="34" charset="-120"/>
              </a:rPr>
              <a:t>Action</a:t>
            </a:r>
            <a:endParaRPr lang="en-US" sz="1800" dirty="0"/>
          </a:p>
        </p:txBody>
      </p:sp>
      <p:sp>
        <p:nvSpPr>
          <p:cNvPr id="27" name="Text 25"/>
          <p:cNvSpPr/>
          <p:nvPr/>
        </p:nvSpPr>
        <p:spPr>
          <a:xfrm>
            <a:off x="9914186" y="2753320"/>
            <a:ext cx="1718723" cy="270470"/>
          </a:xfrm>
          <a:prstGeom prst="rect">
            <a:avLst/>
          </a:prstGeom>
          <a:noFill/>
          <a:ln/>
        </p:spPr>
        <p:txBody>
          <a:bodyPr wrap="none" lIns="0" tIns="0" rIns="0" bIns="0" rtlCol="0" anchor="t"/>
          <a:lstStyle/>
          <a:p>
            <a:pPr algn="l" indent="0" marL="0">
              <a:lnSpc>
                <a:spcPct val="118000"/>
              </a:lnSpc>
              <a:buNone/>
            </a:pPr>
            <a:r>
              <a:rPr lang="en-US" sz="1500" dirty="0">
                <a:solidFill>
                  <a:srgbClr val="EEF0FF"/>
                </a:solidFill>
                <a:latin typeface="Lexend" pitchFamily="34" charset="0"/>
                <a:ea typeface="Lexend" pitchFamily="34" charset="-122"/>
                <a:cs typeface="Lexend" pitchFamily="34" charset="-120"/>
              </a:rPr>
              <a:t>Respond</a:t>
            </a:r>
            <a:endParaRPr lang="en-US" sz="1500" dirty="0"/>
          </a:p>
        </p:txBody>
      </p:sp>
      <p:pic>
        <p:nvPicPr>
          <p:cNvPr id="28" name="Image 0" descr="preencoded.png">    </p:cNvPr>
          <p:cNvPicPr>
            <a:picLocks noChangeAspect="1"/>
          </p:cNvPicPr>
          <p:nvPr/>
        </p:nvPicPr>
        <p:blipFill>
          <a:blip r:embed="rId1"/>
          <a:stretch>
            <a:fillRect/>
          </a:stretch>
        </p:blipFill>
        <p:spPr>
          <a:xfrm>
            <a:off x="558786" y="3217466"/>
            <a:ext cx="3230779" cy="3183334"/>
          </a:xfrm>
          <a:prstGeom prst="rect">
            <a:avLst/>
          </a:prstGeom>
        </p:spPr>
      </p:pic>
      <p:sp>
        <p:nvSpPr>
          <p:cNvPr id="29" name="Shape 26"/>
          <p:cNvSpPr/>
          <p:nvPr/>
        </p:nvSpPr>
        <p:spPr>
          <a:xfrm>
            <a:off x="4094259" y="3217466"/>
            <a:ext cx="7538650" cy="3183334"/>
          </a:xfrm>
          <a:prstGeom prst="rect">
            <a:avLst/>
          </a:prstGeom>
          <a:solidFill>
            <a:srgbClr val="262D92"/>
          </a:solidFill>
          <a:ln/>
          <a:effectLst>
            <a:outerShdw sx="100000" sy="100000" kx="0" ky="0" algn="bl" rotWithShape="0" blurRad="328930" dist="127" dir="16200000">
              <a:srgbClr val="f4c45a">
                <a:alpha val="20000"/>
              </a:srgbClr>
            </a:outerShdw>
          </a:effectLst>
        </p:spPr>
      </p:sp>
      <p:sp>
        <p:nvSpPr>
          <p:cNvPr id="30" name="Text 27"/>
          <p:cNvSpPr/>
          <p:nvPr/>
        </p:nvSpPr>
        <p:spPr>
          <a:xfrm>
            <a:off x="4373652" y="4206875"/>
            <a:ext cx="6979864" cy="346670"/>
          </a:xfrm>
          <a:prstGeom prst="rect">
            <a:avLst/>
          </a:prstGeom>
          <a:noFill/>
          <a:ln/>
        </p:spPr>
        <p:txBody>
          <a:bodyPr wrap="none" lIns="0" tIns="0" rIns="0" bIns="0" rtlCol="0" anchor="t"/>
          <a:lstStyle/>
          <a:p>
            <a:pPr algn="l" indent="0" marL="0">
              <a:lnSpc>
                <a:spcPct val="108000"/>
              </a:lnSpc>
              <a:buNone/>
            </a:pPr>
            <a:r>
              <a:rPr lang="en-US" sz="2100" dirty="0">
                <a:solidFill>
                  <a:srgbClr val="EEF0FF"/>
                </a:solidFill>
                <a:latin typeface="Lexend" pitchFamily="34" charset="0"/>
                <a:ea typeface="Lexend" pitchFamily="34" charset="-122"/>
                <a:cs typeface="Lexend" pitchFamily="34" charset="-120"/>
              </a:rPr>
              <a:t>Every AI action is simulated in the twin first.</a:t>
            </a:r>
            <a:endParaRPr lang="en-US" sz="2100" dirty="0"/>
          </a:p>
        </p:txBody>
      </p:sp>
      <p:sp>
        <p:nvSpPr>
          <p:cNvPr id="31" name="Text 28"/>
          <p:cNvSpPr/>
          <p:nvPr/>
        </p:nvSpPr>
        <p:spPr>
          <a:xfrm>
            <a:off x="4373652" y="4709120"/>
            <a:ext cx="7259257" cy="360660"/>
          </a:xfrm>
          <a:prstGeom prst="rect">
            <a:avLst/>
          </a:prstGeom>
          <a:noFill/>
          <a:ln/>
        </p:spPr>
        <p:txBody>
          <a:bodyPr wrap="none" lIns="0" tIns="0" rIns="0" bIns="0" rtlCol="0" anchor="t"/>
          <a:lstStyle/>
          <a:p>
            <a:pPr algn="l" indent="0" marL="0">
              <a:lnSpc>
                <a:spcPct val="118000"/>
              </a:lnSpc>
              <a:buNone/>
            </a:pPr>
            <a:r>
              <a:rPr lang="en-US" sz="2000" dirty="0">
                <a:solidFill>
                  <a:srgbClr val="EEF0FF"/>
                </a:solidFill>
                <a:latin typeface="Lexend" pitchFamily="34" charset="0"/>
                <a:ea typeface="Lexend" pitchFamily="34" charset="-122"/>
                <a:cs typeface="Lexend" pitchFamily="34" charset="-120"/>
              </a:rPr>
              <a:t>Failed simulations never reach the grid.</a:t>
            </a:r>
            <a:endParaRPr lang="en-US" sz="2000" dirty="0"/>
          </a:p>
        </p:txBody>
      </p:sp>
      <p:sp>
        <p:nvSpPr>
          <p:cNvPr id="32" name="Text 29"/>
          <p:cNvSpPr/>
          <p:nvPr/>
        </p:nvSpPr>
        <p:spPr>
          <a:xfrm>
            <a:off x="4373652" y="5196780"/>
            <a:ext cx="7259257" cy="214610"/>
          </a:xfrm>
          <a:prstGeom prst="rect">
            <a:avLst/>
          </a:prstGeom>
          <a:noFill/>
          <a:ln/>
        </p:spPr>
        <p:txBody>
          <a:bodyPr wrap="none" lIns="0" tIns="0" rIns="0" bIns="0" rtlCol="0" anchor="t"/>
          <a:lstStyle/>
          <a:p>
            <a:pPr algn="l" indent="0" marL="0">
              <a:lnSpc>
                <a:spcPct val="108000"/>
              </a:lnSpc>
              <a:buNone/>
            </a:pPr>
            <a:r>
              <a:rPr lang="en-US" sz="1300" spc="13" kern="100" dirty="0">
                <a:solidFill>
                  <a:srgbClr val="EEF0FF"/>
                </a:solidFill>
                <a:latin typeface="Azeret Mono" pitchFamily="34" charset="0"/>
                <a:ea typeface="Azeret Mono" pitchFamily="34" charset="-122"/>
                <a:cs typeface="Azeret Mono" pitchFamily="34" charset="-120"/>
              </a:rPr>
              <a:t>A safety gate between recommendation and execution.</a:t>
            </a:r>
            <a:endParaRPr lang="en-US" sz="1300" dirty="0"/>
          </a:p>
        </p:txBody>
      </p:sp>
      <p:pic>
        <p:nvPicPr>
          <p:cNvPr id="33" name="Image 1" descr="preencoded.png">    </p:cNvPr>
          <p:cNvPicPr>
            <a:picLocks noChangeAspect="1"/>
          </p:cNvPicPr>
          <p:nvPr/>
        </p:nvPicPr>
        <p:blipFill>
          <a:blip r:embed="rId2"/>
          <a:stretch>
            <a:fillRect/>
          </a:stretch>
        </p:blipFill>
        <p:spPr>
          <a:xfrm>
            <a:off x="0" y="0"/>
            <a:ext cx="12191695" cy="5913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8786" y="1575594"/>
            <a:ext cx="11632909" cy="213320"/>
          </a:xfrm>
          <a:prstGeom prst="rect">
            <a:avLst/>
          </a:prstGeom>
          <a:noFill/>
          <a:ln/>
        </p:spPr>
        <p:txBody>
          <a:bodyPr wrap="none" lIns="0" tIns="0" rIns="0" bIns="0" rtlCol="0" anchor="t"/>
          <a:lstStyle/>
          <a:p>
            <a:pPr algn="l" indent="0" marL="0">
              <a:lnSpc>
                <a:spcPct val="100000"/>
              </a:lnSpc>
              <a:buNone/>
            </a:pPr>
            <a:r>
              <a:rPr lang="en-US" sz="1400" spc="42" kern="100" dirty="0">
                <a:solidFill>
                  <a:srgbClr val="F4C45A"/>
                </a:solidFill>
                <a:latin typeface="Azeret Mono Medium" pitchFamily="34" charset="0"/>
                <a:ea typeface="Azeret Mono Medium" pitchFamily="34" charset="-122"/>
                <a:cs typeface="Azeret Mono Medium" pitchFamily="34" charset="-120"/>
              </a:rPr>
              <a:t>CONNECTED ARCHITECTURE</a:t>
            </a:r>
            <a:endParaRPr lang="en-US" sz="1400" dirty="0"/>
          </a:p>
        </p:txBody>
      </p:sp>
      <p:sp>
        <p:nvSpPr>
          <p:cNvPr id="3" name="Text 1"/>
          <p:cNvSpPr/>
          <p:nvPr/>
        </p:nvSpPr>
        <p:spPr>
          <a:xfrm>
            <a:off x="558786" y="1874639"/>
            <a:ext cx="11074123" cy="438845"/>
          </a:xfrm>
          <a:prstGeom prst="rect">
            <a:avLst/>
          </a:prstGeom>
          <a:noFill/>
          <a:ln/>
        </p:spPr>
        <p:txBody>
          <a:bodyPr wrap="none" lIns="0" tIns="0" rIns="0" bIns="0" rtlCol="0" anchor="t"/>
          <a:lstStyle/>
          <a:p>
            <a:pPr algn="l" indent="0" marL="0">
              <a:lnSpc>
                <a:spcPct val="90000"/>
              </a:lnSpc>
              <a:buNone/>
            </a:pPr>
            <a:r>
              <a:rPr lang="en-US" sz="3200" spc="-32" kern="100" dirty="0">
                <a:solidFill>
                  <a:srgbClr val="F4C45A"/>
                </a:solidFill>
                <a:latin typeface="Krona One" pitchFamily="34" charset="0"/>
                <a:ea typeface="Krona One" pitchFamily="34" charset="-122"/>
                <a:cs typeface="Krona One" pitchFamily="34" charset="-120"/>
              </a:rPr>
              <a:t>From live data to action in five layers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58786" y="2529384"/>
          <a:ext cx="11074123" cy="914400"/>
        </p:xfrm>
        <a:graphic>
          <a:graphicData uri="http://schemas.openxmlformats.org/drawingml/2006/table">
            <a:tbl>
              <a:tblPr/>
              <a:tblGrid>
                <a:gridCol w="2436255"/>
                <a:gridCol w="8637868"/>
              </a:tblGrid>
              <a:tr h="491815">
                <a:tc>
                  <a:txBody>
                    <a:bodyPr/>
                    <a:lstStyle/>
                    <a:p>
                      <a:pPr algn="l" indent="0" marL="0">
                        <a:buNone/>
                      </a:pPr>
                      <a:r>
                        <a:rPr lang="en-US" sz="1700" dirty="0">
                          <a:solidFill>
                            <a:srgbClr val="F4C45A"/>
                          </a:solidFill>
                          <a:latin typeface="Lexend" pitchFamily="34" charset="0"/>
                          <a:ea typeface="Lexend" pitchFamily="34" charset="-122"/>
                          <a:cs typeface="Lexend" pitchFamily="34" charset="-120"/>
                        </a:rPr>
                        <a:t>Data sources</a:t>
                      </a:r>
                      <a:endParaRPr lang="en-US" sz="1700" dirty="0">
                        <a:latin typeface="Lexend" charset="0"/>
                        <a:ea typeface="Lexend" charset="0"/>
                        <a:cs typeface="Lexend"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700" dirty="0">
                          <a:solidFill>
                            <a:srgbClr val="EEF0FF"/>
                          </a:solidFill>
                          <a:latin typeface="Lexend" pitchFamily="34" charset="0"/>
                          <a:ea typeface="Lexend" pitchFamily="34" charset="-122"/>
                          <a:cs typeface="Lexend" pitchFamily="34" charset="-120"/>
                        </a:rPr>
                        <a:t>SCADA · AMI smart meters · PMU · Weather · Solar/wind · GIS · Drone/thermal</a:t>
                      </a:r>
                      <a:endParaRPr lang="en-US" sz="1700" dirty="0">
                        <a:latin typeface="Lexend" charset="0"/>
                        <a:ea typeface="Lexend" charset="0"/>
                        <a:cs typeface="Lexend"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r>
              <a:tr h="491815">
                <a:tc>
                  <a:txBody>
                    <a:bodyPr/>
                    <a:lstStyle/>
                    <a:p>
                      <a:pPr algn="l" indent="0" marL="0">
                        <a:buNone/>
                      </a:pPr>
                      <a:r>
                        <a:rPr lang="en-US" sz="1700" dirty="0">
                          <a:solidFill>
                            <a:srgbClr val="F4C45A"/>
                          </a:solidFill>
                          <a:latin typeface="Lexend" pitchFamily="34" charset="0"/>
                          <a:ea typeface="Lexend" pitchFamily="34" charset="-122"/>
                          <a:cs typeface="Lexend" pitchFamily="34" charset="-120"/>
                        </a:rPr>
                        <a:t>Data platform</a:t>
                      </a:r>
                      <a:endParaRPr lang="en-US" sz="1700" dirty="0">
                        <a:latin typeface="Lexend" charset="0"/>
                        <a:ea typeface="Lexend" charset="0"/>
                        <a:cs typeface="Lexend"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700" dirty="0">
                          <a:solidFill>
                            <a:srgbClr val="EEF0FF"/>
                          </a:solidFill>
                          <a:latin typeface="Lexend" pitchFamily="34" charset="0"/>
                          <a:ea typeface="Lexend" pitchFamily="34" charset="-122"/>
                          <a:cs typeface="Lexend" pitchFamily="34" charset="-120"/>
                        </a:rPr>
                        <a:t>IoT platform · Time-series database · OT historian</a:t>
                      </a:r>
                      <a:endParaRPr lang="en-US" sz="1700" dirty="0">
                        <a:latin typeface="Lexend" charset="0"/>
                        <a:ea typeface="Lexend" charset="0"/>
                        <a:cs typeface="Lexend"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r>
              <a:tr h="798294">
                <a:tc>
                  <a:txBody>
                    <a:bodyPr/>
                    <a:lstStyle/>
                    <a:p>
                      <a:pPr algn="l" indent="0" marL="0">
                        <a:buNone/>
                      </a:pPr>
                      <a:r>
                        <a:rPr lang="en-US" sz="1700" dirty="0">
                          <a:solidFill>
                            <a:srgbClr val="F4C45A"/>
                          </a:solidFill>
                          <a:latin typeface="Lexend" pitchFamily="34" charset="0"/>
                          <a:ea typeface="Lexend" pitchFamily="34" charset="-122"/>
                          <a:cs typeface="Lexend" pitchFamily="34" charset="-120"/>
                        </a:rPr>
                        <a:t>AI engine</a:t>
                      </a:r>
                      <a:endParaRPr lang="en-US" sz="1700" dirty="0">
                        <a:latin typeface="Lexend" charset="0"/>
                        <a:ea typeface="Lexend" charset="0"/>
                        <a:cs typeface="Lexend"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700" dirty="0">
                          <a:solidFill>
                            <a:srgbClr val="EEF0FF"/>
                          </a:solidFill>
                          <a:latin typeface="Lexend" pitchFamily="34" charset="0"/>
                          <a:ea typeface="Lexend" pitchFamily="34" charset="-122"/>
                          <a:cs typeface="Lexend" pitchFamily="34" charset="-120"/>
                        </a:rPr>
                        <a:t>Forecasting · Anomaly detection · Predictive maintenance · Outage prediction · Optimization · Computer vision</a:t>
                      </a:r>
                      <a:endParaRPr lang="en-US" sz="1700" dirty="0">
                        <a:latin typeface="Lexend" charset="0"/>
                        <a:ea typeface="Lexend" charset="0"/>
                        <a:cs typeface="Lexend"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r>
              <a:tr h="491815">
                <a:tc>
                  <a:txBody>
                    <a:bodyPr/>
                    <a:lstStyle/>
                    <a:p>
                      <a:pPr algn="l" indent="0" marL="0">
                        <a:buNone/>
                      </a:pPr>
                      <a:r>
                        <a:rPr lang="en-US" sz="1700" dirty="0">
                          <a:solidFill>
                            <a:srgbClr val="F4C45A"/>
                          </a:solidFill>
                          <a:latin typeface="Lexend" pitchFamily="34" charset="0"/>
                          <a:ea typeface="Lexend" pitchFamily="34" charset="-122"/>
                          <a:cs typeface="Lexend" pitchFamily="34" charset="-120"/>
                        </a:rPr>
                        <a:t>Digital twin</a:t>
                      </a:r>
                      <a:endParaRPr lang="en-US" sz="1700" dirty="0">
                        <a:latin typeface="Lexend" charset="0"/>
                        <a:ea typeface="Lexend" charset="0"/>
                        <a:cs typeface="Lexend"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700" dirty="0">
                          <a:solidFill>
                            <a:srgbClr val="EEF0FF"/>
                          </a:solidFill>
                          <a:latin typeface="Lexend" pitchFamily="34" charset="0"/>
                          <a:ea typeface="Lexend" pitchFamily="34" charset="-122"/>
                          <a:cs typeface="Lexend" pitchFamily="34" charset="-120"/>
                        </a:rPr>
                        <a:t>Real-time virtual replica of the grid</a:t>
                      </a:r>
                      <a:endParaRPr lang="en-US" sz="1700" dirty="0">
                        <a:latin typeface="Lexend" charset="0"/>
                        <a:ea typeface="Lexend" charset="0"/>
                        <a:cs typeface="Lexend"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r>
              <a:tr h="479115">
                <a:tc>
                  <a:txBody>
                    <a:bodyPr/>
                    <a:lstStyle/>
                    <a:p>
                      <a:pPr algn="l" indent="0" marL="0">
                        <a:buNone/>
                      </a:pPr>
                      <a:r>
                        <a:rPr lang="en-US" sz="1700" dirty="0">
                          <a:solidFill>
                            <a:srgbClr val="F4C45A"/>
                          </a:solidFill>
                          <a:latin typeface="Lexend" pitchFamily="34" charset="0"/>
                          <a:ea typeface="Lexend" pitchFamily="34" charset="-122"/>
                          <a:cs typeface="Lexend" pitchFamily="34" charset="-120"/>
                        </a:rPr>
                        <a:t>Applications</a:t>
                      </a:r>
                      <a:endParaRPr lang="en-US" sz="1700" dirty="0">
                        <a:latin typeface="Lexend" charset="0"/>
                        <a:ea typeface="Lexend" charset="0"/>
                        <a:cs typeface="Lexend"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700" dirty="0">
                          <a:solidFill>
                            <a:srgbClr val="EEF0FF"/>
                          </a:solidFill>
                          <a:latin typeface="Lexend" pitchFamily="34" charset="0"/>
                          <a:ea typeface="Lexend" pitchFamily="34" charset="-122"/>
                          <a:cs typeface="Lexend" pitchFamily="34" charset="-120"/>
                        </a:rPr>
                        <a:t>Control room · Field engineer app · Executive analytics</a:t>
                      </a:r>
                      <a:endParaRPr lang="en-US" sz="1700" dirty="0">
                        <a:latin typeface="Lexend" charset="0"/>
                        <a:ea typeface="Lexend" charset="0"/>
                        <a:cs typeface="Lexend"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r>
            </a:tbl>
          </a:graphicData>
        </a:graphic>
      </p:graphicFrame>
      <p:sp>
        <p:nvSpPr>
          <p:cNvPr id="5" name="Shape 2"/>
          <p:cNvSpPr/>
          <p:nvPr/>
        </p:nvSpPr>
        <p:spPr>
          <a:xfrm>
            <a:off x="558786" y="3008499"/>
            <a:ext cx="11074123" cy="12700"/>
          </a:xfrm>
          <a:prstGeom prst="rect">
            <a:avLst/>
          </a:prstGeom>
          <a:solidFill>
            <a:srgbClr val="4C54BA"/>
          </a:solidFill>
          <a:ln/>
        </p:spPr>
      </p:sp>
      <p:sp>
        <p:nvSpPr>
          <p:cNvPr id="6" name="Shape 3"/>
          <p:cNvSpPr/>
          <p:nvPr/>
        </p:nvSpPr>
        <p:spPr>
          <a:xfrm>
            <a:off x="558786" y="3500314"/>
            <a:ext cx="11074123" cy="12700"/>
          </a:xfrm>
          <a:prstGeom prst="rect">
            <a:avLst/>
          </a:prstGeom>
          <a:solidFill>
            <a:srgbClr val="4C54BA"/>
          </a:solidFill>
          <a:ln/>
        </p:spPr>
      </p:sp>
      <p:sp>
        <p:nvSpPr>
          <p:cNvPr id="7" name="Shape 4"/>
          <p:cNvSpPr/>
          <p:nvPr/>
        </p:nvSpPr>
        <p:spPr>
          <a:xfrm>
            <a:off x="558786" y="4298608"/>
            <a:ext cx="11074123" cy="12700"/>
          </a:xfrm>
          <a:prstGeom prst="rect">
            <a:avLst/>
          </a:prstGeom>
          <a:solidFill>
            <a:srgbClr val="4C54BA"/>
          </a:solidFill>
          <a:ln/>
        </p:spPr>
      </p:sp>
      <p:sp>
        <p:nvSpPr>
          <p:cNvPr id="8" name="Shape 5"/>
          <p:cNvSpPr/>
          <p:nvPr/>
        </p:nvSpPr>
        <p:spPr>
          <a:xfrm>
            <a:off x="558786" y="4790423"/>
            <a:ext cx="11074123" cy="12700"/>
          </a:xfrm>
          <a:prstGeom prst="rect">
            <a:avLst/>
          </a:prstGeom>
          <a:solidFill>
            <a:srgbClr val="4C54BA"/>
          </a:solidFill>
          <a:ln/>
        </p:spPr>
      </p:sp>
      <p:pic>
        <p:nvPicPr>
          <p:cNvPr id="9" name="Image 0" descr="preencoded.png">    </p:cNvPr>
          <p:cNvPicPr>
            <a:picLocks noChangeAspect="1"/>
          </p:cNvPicPr>
          <p:nvPr/>
        </p:nvPicPr>
        <p:blipFill>
          <a:blip r:embed="rId1"/>
          <a:stretch>
            <a:fillRect/>
          </a:stretch>
        </p:blipFill>
        <p:spPr>
          <a:xfrm>
            <a:off x="0" y="0"/>
            <a:ext cx="12191695" cy="5913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12760" y="406400"/>
            <a:ext cx="10966176" cy="877689"/>
          </a:xfrm>
          <a:prstGeom prst="rect">
            <a:avLst/>
          </a:prstGeom>
          <a:noFill/>
          <a:ln/>
        </p:spPr>
        <p:txBody>
          <a:bodyPr wrap="square" lIns="0" tIns="0" rIns="0" bIns="0" rtlCol="0" anchor="t">
            <a:normAutofit/>
          </a:bodyPr>
          <a:lstStyle/>
          <a:p>
            <a:pPr algn="l" indent="0" marL="0">
              <a:lnSpc>
                <a:spcPct val="90000"/>
              </a:lnSpc>
              <a:buNone/>
            </a:pPr>
            <a:r>
              <a:rPr lang="en-US" sz="3200" spc="-32" kern="100" dirty="0">
                <a:solidFill>
                  <a:srgbClr val="FFFFFF"/>
                </a:solidFill>
                <a:latin typeface="Krona One" pitchFamily="34" charset="0"/>
                <a:ea typeface="Krona One" pitchFamily="34" charset="-122"/>
                <a:cs typeface="Krona One" pitchFamily="34" charset="-120"/>
              </a:rPr>
              <a:t>Six AI modules, one ranked decision, tested in the twin</a:t>
            </a:r>
            <a:endParaRPr lang="en-US" sz="3200" dirty="0"/>
          </a:p>
        </p:txBody>
      </p:sp>
      <p:sp>
        <p:nvSpPr>
          <p:cNvPr id="3" name="Shape 1"/>
          <p:cNvSpPr/>
          <p:nvPr/>
        </p:nvSpPr>
        <p:spPr>
          <a:xfrm>
            <a:off x="558786" y="1778000"/>
            <a:ext cx="5460863" cy="3451622"/>
          </a:xfrm>
          <a:prstGeom prst="roundRect">
            <a:avLst>
              <a:gd name="adj" fmla="val 4415"/>
            </a:avLst>
          </a:prstGeom>
          <a:solidFill>
            <a:srgbClr val="262D92"/>
          </a:solidFill>
          <a:ln w="6350">
            <a:solidFill>
              <a:srgbClr val="B7BCEB">
                <a:alpha val="42000"/>
              </a:srgbClr>
            </a:solidFill>
            <a:prstDash val="solid"/>
          </a:ln>
          <a:effectLst>
            <a:outerShdw sx="100000" sy="100000" kx="0" ky="0" algn="bl" rotWithShape="0" blurRad="278130" dist="127" dir="16200000">
              <a:srgbClr val="b7bceb">
                <a:alpha val="20000"/>
              </a:srgbClr>
            </a:outerShdw>
          </a:effectLst>
        </p:spPr>
      </p:sp>
      <p:sp>
        <p:nvSpPr>
          <p:cNvPr id="4" name="Text 2"/>
          <p:cNvSpPr/>
          <p:nvPr/>
        </p:nvSpPr>
        <p:spPr>
          <a:xfrm>
            <a:off x="793730" y="1987550"/>
            <a:ext cx="5600560" cy="213320"/>
          </a:xfrm>
          <a:prstGeom prst="rect">
            <a:avLst/>
          </a:prstGeom>
          <a:noFill/>
          <a:ln/>
        </p:spPr>
        <p:txBody>
          <a:bodyPr wrap="none" lIns="0" tIns="0" rIns="0" bIns="0" rtlCol="0" anchor="t"/>
          <a:lstStyle/>
          <a:p>
            <a:pPr algn="l" indent="0" marL="0">
              <a:lnSpc>
                <a:spcPct val="100000"/>
              </a:lnSpc>
              <a:buNone/>
            </a:pPr>
            <a:r>
              <a:rPr lang="en-US" sz="1400" spc="42" kern="100" dirty="0">
                <a:solidFill>
                  <a:srgbClr val="FFFFFF"/>
                </a:solidFill>
                <a:latin typeface="Azeret Mono Medium" pitchFamily="34" charset="0"/>
                <a:ea typeface="Azeret Mono Medium" pitchFamily="34" charset="-122"/>
                <a:cs typeface="Azeret Mono Medium" pitchFamily="34" charset="-120"/>
              </a:rPr>
              <a:t>SIX MODULES</a:t>
            </a:r>
            <a:endParaRPr lang="en-US" sz="1400" dirty="0"/>
          </a:p>
        </p:txBody>
      </p:sp>
      <p:sp>
        <p:nvSpPr>
          <p:cNvPr id="5" name="Text 3"/>
          <p:cNvSpPr/>
          <p:nvPr/>
        </p:nvSpPr>
        <p:spPr>
          <a:xfrm>
            <a:off x="793730" y="2394545"/>
            <a:ext cx="4990975" cy="1662906"/>
          </a:xfrm>
          <a:prstGeom prst="rect">
            <a:avLst/>
          </a:prstGeom>
          <a:noFill/>
          <a:ln/>
        </p:spPr>
        <p:txBody>
          <a:bodyPr wrap="square" lIns="0" tIns="0" rIns="0" bIns="0" rtlCol="0" anchor="t"/>
          <a:lstStyle/>
          <a:p>
            <a:pPr algn="l" indent="0" marL="0">
              <a:lnSpc>
                <a:spcPct val="118000"/>
              </a:lnSpc>
              <a:spcAft>
                <a:spcPts val="1500"/>
              </a:spcAft>
              <a:buNone/>
            </a:pPr>
            <a:r>
              <a:rPr lang="en-US" sz="1500" dirty="0">
                <a:solidFill>
                  <a:srgbClr val="EEF0FF"/>
                </a:solidFill>
                <a:latin typeface="Lexend" pitchFamily="34" charset="0"/>
                <a:ea typeface="Lexend" pitchFamily="34" charset="-122"/>
                <a:cs typeface="Lexend" pitchFamily="34" charset="-120"/>
              </a:rPr>
              <a:t>Load and renewable generation forecasting</a:t>
            </a:r>
            <a:endParaRPr lang="en-US" sz="1500" dirty="0"/>
          </a:p>
          <a:p>
            <a:pPr algn="l" indent="0" marL="0">
              <a:lnSpc>
                <a:spcPct val="118000"/>
              </a:lnSpc>
              <a:spcAft>
                <a:spcPts val="1500"/>
              </a:spcAft>
              <a:buNone/>
            </a:pPr>
            <a:r>
              <a:rPr lang="en-US" sz="1500" dirty="0">
                <a:solidFill>
                  <a:srgbClr val="EEF0FF"/>
                </a:solidFill>
                <a:latin typeface="Lexend" pitchFamily="34" charset="0"/>
                <a:ea typeface="Lexend" pitchFamily="34" charset="-122"/>
                <a:cs typeface="Lexend" pitchFamily="34" charset="-120"/>
              </a:rPr>
              <a:t>Fault and anomaly detection</a:t>
            </a:r>
            <a:endParaRPr lang="en-US" sz="1500" dirty="0"/>
          </a:p>
          <a:p>
            <a:pPr algn="l" indent="0" marL="0">
              <a:lnSpc>
                <a:spcPct val="118000"/>
              </a:lnSpc>
              <a:spcAft>
                <a:spcPts val="1500"/>
              </a:spcAft>
              <a:buNone/>
            </a:pPr>
            <a:r>
              <a:rPr lang="en-US" sz="1500" dirty="0">
                <a:solidFill>
                  <a:srgbClr val="EEF0FF"/>
                </a:solidFill>
                <a:latin typeface="Lexend" pitchFamily="34" charset="0"/>
                <a:ea typeface="Lexend" pitchFamily="34" charset="-122"/>
                <a:cs typeface="Lexend" pitchFamily="34" charset="-120"/>
              </a:rPr>
              <a:t>Predictive maintenance and outage prediction</a:t>
            </a:r>
            <a:endParaRPr lang="en-US" sz="1500" dirty="0"/>
          </a:p>
          <a:p>
            <a:pPr algn="l" indent="0" marL="0">
              <a:lnSpc>
                <a:spcPct val="118000"/>
              </a:lnSpc>
              <a:buNone/>
            </a:pPr>
            <a:r>
              <a:rPr lang="en-US" sz="1500" dirty="0">
                <a:solidFill>
                  <a:srgbClr val="EEF0FF"/>
                </a:solidFill>
                <a:latin typeface="Lexend" pitchFamily="34" charset="0"/>
                <a:ea typeface="Lexend" pitchFamily="34" charset="-122"/>
                <a:cs typeface="Lexend" pitchFamily="34" charset="-120"/>
              </a:rPr>
              <a:t>Power flow and DER optimization</a:t>
            </a:r>
            <a:endParaRPr lang="en-US" sz="1500" dirty="0"/>
          </a:p>
        </p:txBody>
      </p:sp>
      <p:sp>
        <p:nvSpPr>
          <p:cNvPr id="6" name="Text 4"/>
          <p:cNvSpPr/>
          <p:nvPr/>
        </p:nvSpPr>
        <p:spPr>
          <a:xfrm>
            <a:off x="793730" y="4425752"/>
            <a:ext cx="4990975" cy="594320"/>
          </a:xfrm>
          <a:prstGeom prst="rect">
            <a:avLst/>
          </a:prstGeom>
          <a:noFill/>
          <a:ln/>
        </p:spPr>
        <p:txBody>
          <a:bodyPr wrap="square" lIns="0" tIns="0" rIns="0" bIns="0" rtlCol="0" anchor="t">
            <a:normAutofit/>
          </a:bodyPr>
          <a:lstStyle/>
          <a:p>
            <a:pPr algn="l" indent="0" marL="0">
              <a:lnSpc>
                <a:spcPct val="108000"/>
              </a:lnSpc>
              <a:buNone/>
            </a:pPr>
            <a:r>
              <a:rPr lang="en-US" sz="1800" dirty="0">
                <a:solidFill>
                  <a:srgbClr val="FFFFFF"/>
                </a:solidFill>
                <a:latin typeface="Lexend" pitchFamily="34" charset="0"/>
                <a:ea typeface="Lexend" pitchFamily="34" charset="-122"/>
                <a:cs typeface="Lexend" pitchFamily="34" charset="-120"/>
              </a:rPr>
              <a:t>Rank the intervention.</a:t>
            </a:r>
            <a:endParaRPr lang="en-US" sz="1800" dirty="0"/>
          </a:p>
          <a:p>
            <a:pPr algn="l" indent="0" marL="0">
              <a:lnSpc>
                <a:spcPct val="108000"/>
              </a:lnSpc>
              <a:buNone/>
            </a:pPr>
            <a:r>
              <a:rPr lang="en-US" sz="1800" dirty="0">
                <a:solidFill>
                  <a:srgbClr val="FFFFFF"/>
                </a:solidFill>
                <a:latin typeface="Lexend" pitchFamily="34" charset="0"/>
                <a:ea typeface="Lexend" pitchFamily="34" charset="-122"/>
                <a:cs typeface="Lexend" pitchFamily="34" charset="-120"/>
              </a:rPr>
              <a:t>Test it in the twin.</a:t>
            </a:r>
            <a:endParaRPr lang="en-US" sz="1800" dirty="0"/>
          </a:p>
        </p:txBody>
      </p:sp>
      <p:sp>
        <p:nvSpPr>
          <p:cNvPr id="7" name="Shape 5"/>
          <p:cNvSpPr/>
          <p:nvPr/>
        </p:nvSpPr>
        <p:spPr>
          <a:xfrm>
            <a:off x="8305592" y="2133600"/>
            <a:ext cx="3327317" cy="2011164"/>
          </a:xfrm>
          <a:prstGeom prst="roundRect">
            <a:avLst>
              <a:gd name="adj" fmla="val 7577"/>
            </a:avLst>
          </a:prstGeom>
          <a:solidFill>
            <a:srgbClr val="262D92"/>
          </a:solidFill>
          <a:ln w="6350">
            <a:solidFill>
              <a:srgbClr val="B7BCEB">
                <a:alpha val="42000"/>
              </a:srgbClr>
            </a:solidFill>
            <a:prstDash val="solid"/>
          </a:ln>
          <a:effectLst>
            <a:outerShdw sx="100000" sy="100000" kx="0" ky="0" algn="bl" rotWithShape="0" blurRad="278130" dist="127" dir="16200000">
              <a:srgbClr val="b7bceb">
                <a:alpha val="20000"/>
              </a:srgbClr>
            </a:outerShdw>
          </a:effectLst>
        </p:spPr>
      </p:sp>
      <p:sp>
        <p:nvSpPr>
          <p:cNvPr id="8" name="Text 6"/>
          <p:cNvSpPr/>
          <p:nvPr/>
        </p:nvSpPr>
        <p:spPr>
          <a:xfrm>
            <a:off x="8515137" y="2317750"/>
            <a:ext cx="3517812" cy="213320"/>
          </a:xfrm>
          <a:prstGeom prst="rect">
            <a:avLst/>
          </a:prstGeom>
          <a:noFill/>
          <a:ln/>
        </p:spPr>
        <p:txBody>
          <a:bodyPr wrap="none" lIns="0" tIns="0" rIns="0" bIns="0" rtlCol="0" anchor="t"/>
          <a:lstStyle/>
          <a:p>
            <a:pPr algn="l" indent="0" marL="0">
              <a:lnSpc>
                <a:spcPct val="100000"/>
              </a:lnSpc>
              <a:buNone/>
            </a:pPr>
            <a:r>
              <a:rPr lang="en-US" sz="1400" spc="42" kern="100" dirty="0">
                <a:solidFill>
                  <a:srgbClr val="FFFFFF"/>
                </a:solidFill>
                <a:latin typeface="Azeret Mono Medium" pitchFamily="34" charset="0"/>
                <a:ea typeface="Azeret Mono Medium" pitchFamily="34" charset="-122"/>
                <a:cs typeface="Azeret Mono Medium" pitchFamily="34" charset="-120"/>
              </a:rPr>
              <a:t>SIMULATED SCENARIO</a:t>
            </a:r>
            <a:endParaRPr lang="en-US" sz="1400" dirty="0"/>
          </a:p>
        </p:txBody>
      </p:sp>
      <p:sp>
        <p:nvSpPr>
          <p:cNvPr id="9" name="Text 7"/>
          <p:cNvSpPr/>
          <p:nvPr/>
        </p:nvSpPr>
        <p:spPr>
          <a:xfrm>
            <a:off x="8515137" y="2724745"/>
            <a:ext cx="2908227" cy="612973"/>
          </a:xfrm>
          <a:prstGeom prst="rect">
            <a:avLst/>
          </a:prstGeom>
          <a:noFill/>
          <a:ln/>
        </p:spPr>
        <p:txBody>
          <a:bodyPr wrap="square" lIns="0" tIns="0" rIns="0" bIns="0" rtlCol="0" anchor="t">
            <a:normAutofit/>
          </a:bodyPr>
          <a:lstStyle/>
          <a:p>
            <a:pPr algn="l" indent="0" marL="0">
              <a:lnSpc>
                <a:spcPct val="118000"/>
              </a:lnSpc>
              <a:buNone/>
            </a:pPr>
            <a:r>
              <a:rPr lang="en-US" sz="1700" dirty="0">
                <a:solidFill>
                  <a:srgbClr val="EEF0FF"/>
                </a:solidFill>
                <a:latin typeface="Lexend" pitchFamily="34" charset="0"/>
                <a:ea typeface="Lexend" pitchFamily="34" charset="-122"/>
                <a:cs typeface="Lexend" pitchFamily="34" charset="-120"/>
              </a:rPr>
              <a:t>Transformer health anomaly</a:t>
            </a:r>
            <a:endParaRPr lang="en-US" sz="1700" dirty="0"/>
          </a:p>
        </p:txBody>
      </p:sp>
      <p:sp>
        <p:nvSpPr>
          <p:cNvPr id="10" name="Text 8"/>
          <p:cNvSpPr/>
          <p:nvPr/>
        </p:nvSpPr>
        <p:spPr>
          <a:xfrm>
            <a:off x="8515137" y="3531394"/>
            <a:ext cx="2908227" cy="429220"/>
          </a:xfrm>
          <a:prstGeom prst="rect">
            <a:avLst/>
          </a:prstGeom>
          <a:noFill/>
          <a:ln/>
        </p:spPr>
        <p:txBody>
          <a:bodyPr wrap="square" lIns="0" tIns="0" rIns="0" bIns="0" rtlCol="0" anchor="t">
            <a:normAutofit/>
          </a:bodyPr>
          <a:lstStyle/>
          <a:p>
            <a:pPr algn="l" indent="0" marL="0">
              <a:lnSpc>
                <a:spcPct val="108000"/>
              </a:lnSpc>
              <a:buNone/>
            </a:pPr>
            <a:r>
              <a:rPr lang="en-US" sz="1300" spc="13" kern="100" dirty="0">
                <a:solidFill>
                  <a:srgbClr val="FFFFFF"/>
                </a:solidFill>
                <a:latin typeface="Azeret Mono" pitchFamily="34" charset="0"/>
                <a:ea typeface="Azeret Mono" pitchFamily="34" charset="-122"/>
                <a:cs typeface="Azeret Mono" pitchFamily="34" charset="-120"/>
              </a:rPr>
              <a:t>Live grid state · Fault location flagged</a:t>
            </a:r>
            <a:endParaRPr lang="en-US" sz="1300" dirty="0"/>
          </a:p>
        </p:txBody>
      </p:sp>
      <p:sp>
        <p:nvSpPr>
          <p:cNvPr id="11" name="Shape 9"/>
          <p:cNvSpPr/>
          <p:nvPr/>
        </p:nvSpPr>
        <p:spPr>
          <a:xfrm>
            <a:off x="558786" y="5080000"/>
            <a:ext cx="5257668" cy="1142305"/>
          </a:xfrm>
          <a:prstGeom prst="roundRect">
            <a:avLst>
              <a:gd name="adj" fmla="val 13341"/>
            </a:avLst>
          </a:prstGeom>
          <a:solidFill>
            <a:srgbClr val="262D92"/>
          </a:solidFill>
          <a:ln w="6350">
            <a:solidFill>
              <a:srgbClr val="B7BCEB">
                <a:alpha val="42000"/>
              </a:srgbClr>
            </a:solidFill>
            <a:prstDash val="solid"/>
          </a:ln>
          <a:effectLst>
            <a:outerShdw sx="100000" sy="100000" kx="0" ky="0" algn="bl" rotWithShape="0" blurRad="278130" dist="127" dir="16200000">
              <a:srgbClr val="b7bceb">
                <a:alpha val="20000"/>
              </a:srgbClr>
            </a:outerShdw>
          </a:effectLst>
        </p:spPr>
      </p:sp>
      <p:sp>
        <p:nvSpPr>
          <p:cNvPr id="12" name="Text 10"/>
          <p:cNvSpPr/>
          <p:nvPr/>
        </p:nvSpPr>
        <p:spPr>
          <a:xfrm>
            <a:off x="793730" y="5289550"/>
            <a:ext cx="4787780"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Lexend" pitchFamily="34" charset="0"/>
                <a:ea typeface="Lexend" pitchFamily="34" charset="-122"/>
                <a:cs typeface="Lexend" pitchFamily="34" charset="-120"/>
              </a:rPr>
              <a:t>Without AI</a:t>
            </a:r>
            <a:endParaRPr lang="en-US" sz="1800" dirty="0"/>
          </a:p>
        </p:txBody>
      </p:sp>
      <p:sp>
        <p:nvSpPr>
          <p:cNvPr id="13" name="Text 11"/>
          <p:cNvSpPr/>
          <p:nvPr/>
        </p:nvSpPr>
        <p:spPr>
          <a:xfrm>
            <a:off x="793730" y="5742285"/>
            <a:ext cx="5397365" cy="270470"/>
          </a:xfrm>
          <a:prstGeom prst="rect">
            <a:avLst/>
          </a:prstGeom>
          <a:noFill/>
          <a:ln/>
        </p:spPr>
        <p:txBody>
          <a:bodyPr wrap="none" lIns="0" tIns="0" rIns="0" bIns="0" rtlCol="0" anchor="t"/>
          <a:lstStyle/>
          <a:p>
            <a:pPr algn="l" indent="0" marL="0">
              <a:lnSpc>
                <a:spcPct val="118000"/>
              </a:lnSpc>
              <a:buNone/>
            </a:pPr>
            <a:r>
              <a:rPr lang="en-US" sz="1500" dirty="0">
                <a:solidFill>
                  <a:srgbClr val="EEF0FF"/>
                </a:solidFill>
                <a:latin typeface="Lexend" pitchFamily="34" charset="0"/>
                <a:ea typeface="Lexend" pitchFamily="34" charset="-122"/>
                <a:cs typeface="Lexend" pitchFamily="34" charset="-120"/>
              </a:rPr>
              <a:t>Fault → Failure → Outage → Long downtime</a:t>
            </a:r>
            <a:endParaRPr lang="en-US" sz="1500" dirty="0"/>
          </a:p>
        </p:txBody>
      </p:sp>
      <p:sp>
        <p:nvSpPr>
          <p:cNvPr id="14" name="Shape 12"/>
          <p:cNvSpPr/>
          <p:nvPr/>
        </p:nvSpPr>
        <p:spPr>
          <a:xfrm>
            <a:off x="6070448" y="5016500"/>
            <a:ext cx="5562461" cy="1821061"/>
          </a:xfrm>
          <a:prstGeom prst="roundRect">
            <a:avLst>
              <a:gd name="adj" fmla="val 8369"/>
            </a:avLst>
          </a:prstGeom>
          <a:solidFill>
            <a:srgbClr val="262D92"/>
          </a:solidFill>
          <a:ln w="6350">
            <a:solidFill>
              <a:srgbClr val="B7BCEB">
                <a:alpha val="42000"/>
              </a:srgbClr>
            </a:solidFill>
            <a:prstDash val="solid"/>
          </a:ln>
          <a:effectLst>
            <a:outerShdw sx="100000" sy="100000" kx="0" ky="0" algn="bl" rotWithShape="0" blurRad="278130" dist="127" dir="16200000">
              <a:srgbClr val="b7bceb">
                <a:alpha val="20000"/>
              </a:srgbClr>
            </a:outerShdw>
          </a:effectLst>
        </p:spPr>
      </p:sp>
      <p:sp>
        <p:nvSpPr>
          <p:cNvPr id="15" name="Text 13"/>
          <p:cNvSpPr/>
          <p:nvPr/>
        </p:nvSpPr>
        <p:spPr>
          <a:xfrm>
            <a:off x="6305392" y="5226050"/>
            <a:ext cx="5092573"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Lexend" pitchFamily="34" charset="0"/>
                <a:ea typeface="Lexend" pitchFamily="34" charset="-122"/>
                <a:cs typeface="Lexend" pitchFamily="34" charset="-120"/>
              </a:rPr>
              <a:t>With AI</a:t>
            </a:r>
            <a:endParaRPr lang="en-US" sz="1800" dirty="0"/>
          </a:p>
        </p:txBody>
      </p:sp>
      <p:sp>
        <p:nvSpPr>
          <p:cNvPr id="16" name="Text 14"/>
          <p:cNvSpPr/>
          <p:nvPr/>
        </p:nvSpPr>
        <p:spPr>
          <a:xfrm>
            <a:off x="6305392" y="5678785"/>
            <a:ext cx="5092573"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EEF0FF"/>
                </a:solidFill>
                <a:latin typeface="Lexend" pitchFamily="34" charset="0"/>
                <a:ea typeface="Lexend" pitchFamily="34" charset="-122"/>
                <a:cs typeface="Lexend" pitchFamily="34" charset="-120"/>
              </a:rPr>
              <a:t>Anomaly → Prediction → Engineer alert → Preventive maintenance</a:t>
            </a:r>
            <a:endParaRPr lang="en-US" sz="1500" dirty="0"/>
          </a:p>
        </p:txBody>
      </p:sp>
      <p:sp>
        <p:nvSpPr>
          <p:cNvPr id="17" name="Text 15"/>
          <p:cNvSpPr/>
          <p:nvPr/>
        </p:nvSpPr>
        <p:spPr>
          <a:xfrm>
            <a:off x="6305392" y="6413401"/>
            <a:ext cx="5702157" cy="214610"/>
          </a:xfrm>
          <a:prstGeom prst="rect">
            <a:avLst/>
          </a:prstGeom>
          <a:noFill/>
          <a:ln/>
        </p:spPr>
        <p:txBody>
          <a:bodyPr wrap="none" lIns="0" tIns="0" rIns="0" bIns="0" rtlCol="0" anchor="t"/>
          <a:lstStyle/>
          <a:p>
            <a:pPr algn="l" indent="0" marL="0">
              <a:lnSpc>
                <a:spcPct val="108000"/>
              </a:lnSpc>
              <a:buNone/>
            </a:pPr>
            <a:r>
              <a:rPr lang="en-US" sz="1300" spc="13" kern="100" dirty="0">
                <a:solidFill>
                  <a:srgbClr val="FFFFFF"/>
                </a:solidFill>
                <a:latin typeface="Azeret Mono" pitchFamily="34" charset="0"/>
                <a:ea typeface="Azeret Mono" pitchFamily="34" charset="-122"/>
                <a:cs typeface="Azeret Mono" pitchFamily="34" charset="-120"/>
              </a:rPr>
              <a:t>Scenario outcome: no major outage</a:t>
            </a:r>
            <a:endParaRPr lang="en-US" sz="1300" dirty="0"/>
          </a:p>
        </p:txBody>
      </p:sp>
      <p:pic>
        <p:nvPicPr>
          <p:cNvPr id="18" name="Image 0" descr="preencoded.png">    </p:cNvPr>
          <p:cNvPicPr>
            <a:picLocks noChangeAspect="1"/>
          </p:cNvPicPr>
          <p:nvPr/>
        </p:nvPicPr>
        <p:blipFill>
          <a:blip r:embed="rId1"/>
          <a:stretch>
            <a:fillRect/>
          </a:stretch>
        </p:blipFill>
        <p:spPr>
          <a:xfrm>
            <a:off x="0" y="0"/>
            <a:ext cx="12191695" cy="591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657509" cy="6858000"/>
          </a:xfrm>
          <a:prstGeom prst="rect">
            <a:avLst/>
          </a:prstGeom>
        </p:spPr>
      </p:pic>
      <p:sp>
        <p:nvSpPr>
          <p:cNvPr id="3" name="Text 0"/>
          <p:cNvSpPr/>
          <p:nvPr/>
        </p:nvSpPr>
        <p:spPr>
          <a:xfrm>
            <a:off x="4013100" y="457200"/>
            <a:ext cx="8178595" cy="213320"/>
          </a:xfrm>
          <a:prstGeom prst="rect">
            <a:avLst/>
          </a:prstGeom>
          <a:noFill/>
          <a:ln/>
        </p:spPr>
        <p:txBody>
          <a:bodyPr wrap="none" lIns="0" tIns="0" rIns="0" bIns="0" rtlCol="0" anchor="t"/>
          <a:lstStyle/>
          <a:p>
            <a:pPr algn="l" indent="0" marL="0">
              <a:lnSpc>
                <a:spcPct val="100000"/>
              </a:lnSpc>
              <a:buNone/>
            </a:pPr>
            <a:r>
              <a:rPr lang="en-US" sz="1400" spc="42" kern="100" dirty="0">
                <a:solidFill>
                  <a:srgbClr val="F4C45A"/>
                </a:solidFill>
                <a:latin typeface="Azeret Mono Medium" pitchFamily="34" charset="0"/>
                <a:ea typeface="Azeret Mono Medium" pitchFamily="34" charset="-122"/>
                <a:cs typeface="Azeret Mono Medium" pitchFamily="34" charset="-120"/>
              </a:rPr>
              <a:t>HUMAN-GUIDED AUTONOMY</a:t>
            </a:r>
            <a:endParaRPr lang="en-US" sz="1400" dirty="0"/>
          </a:p>
        </p:txBody>
      </p:sp>
      <p:sp>
        <p:nvSpPr>
          <p:cNvPr id="4" name="Text 1"/>
          <p:cNvSpPr/>
          <p:nvPr/>
        </p:nvSpPr>
        <p:spPr>
          <a:xfrm>
            <a:off x="4013100" y="756245"/>
            <a:ext cx="7619809" cy="877689"/>
          </a:xfrm>
          <a:prstGeom prst="rect">
            <a:avLst/>
          </a:prstGeom>
          <a:noFill/>
          <a:ln/>
        </p:spPr>
        <p:txBody>
          <a:bodyPr wrap="square" lIns="0" tIns="0" rIns="0" bIns="0" rtlCol="0" anchor="t">
            <a:normAutofit/>
          </a:bodyPr>
          <a:lstStyle/>
          <a:p>
            <a:pPr algn="l" indent="0" marL="0">
              <a:lnSpc>
                <a:spcPct val="90000"/>
              </a:lnSpc>
              <a:buNone/>
            </a:pPr>
            <a:r>
              <a:rPr lang="en-US" sz="3200" spc="-32" kern="100" dirty="0">
                <a:solidFill>
                  <a:srgbClr val="F4C45A"/>
                </a:solidFill>
                <a:latin typeface="Krona One" pitchFamily="34" charset="0"/>
                <a:ea typeface="Krona One" pitchFamily="34" charset="-122"/>
                <a:cs typeface="Krona One" pitchFamily="34" charset="-120"/>
              </a:rPr>
              <a:t>Reactive grid → Predictive grid → Autonomous grid</a:t>
            </a:r>
            <a:endParaRPr lang="en-US" sz="3200" dirty="0"/>
          </a:p>
        </p:txBody>
      </p:sp>
      <p:sp>
        <p:nvSpPr>
          <p:cNvPr id="5" name="Text 2"/>
          <p:cNvSpPr/>
          <p:nvPr/>
        </p:nvSpPr>
        <p:spPr>
          <a:xfrm>
            <a:off x="4013100" y="1849834"/>
            <a:ext cx="7619809" cy="1113135"/>
          </a:xfrm>
          <a:prstGeom prst="rect">
            <a:avLst/>
          </a:prstGeom>
          <a:noFill/>
          <a:ln/>
        </p:spPr>
        <p:txBody>
          <a:bodyPr wrap="square" lIns="0" tIns="0" rIns="0" bIns="0" rtlCol="0" anchor="t">
            <a:normAutofit/>
          </a:bodyPr>
          <a:lstStyle/>
          <a:p>
            <a:pPr algn="l" indent="0" marL="0">
              <a:lnSpc>
                <a:spcPct val="118000"/>
              </a:lnSpc>
              <a:spcAft>
                <a:spcPts val="1500"/>
              </a:spcAft>
              <a:buNone/>
            </a:pPr>
            <a:r>
              <a:rPr lang="en-US" sz="1700" dirty="0">
                <a:solidFill>
                  <a:srgbClr val="EEF0FF"/>
                </a:solidFill>
                <a:latin typeface="Lexend" pitchFamily="34" charset="0"/>
                <a:ea typeface="Lexend" pitchFamily="34" charset="-122"/>
                <a:cs typeface="Lexend" pitchFamily="34" charset="-120"/>
              </a:rPr>
              <a:t>Respond after failure → intervene before failure → execute validated actions.</a:t>
            </a:r>
            <a:endParaRPr lang="en-US" sz="1700" dirty="0"/>
          </a:p>
          <a:p>
            <a:pPr algn="l" indent="0" marL="0">
              <a:lnSpc>
                <a:spcPct val="118000"/>
              </a:lnSpc>
              <a:buNone/>
            </a:pPr>
            <a:r>
              <a:rPr lang="en-US" sz="1700" dirty="0">
                <a:solidFill>
                  <a:srgbClr val="EEF0FF"/>
                </a:solidFill>
                <a:latin typeface="Lexend" pitchFamily="34" charset="0"/>
                <a:ea typeface="Lexend" pitchFamily="34" charset="-122"/>
                <a:cs typeface="Lexend" pitchFamily="34" charset="-120"/>
              </a:rPr>
              <a:t>Control room and field engineer app share one live grid state.</a:t>
            </a:r>
            <a:endParaRPr lang="en-US" sz="1700" dirty="0"/>
          </a:p>
        </p:txBody>
      </p:sp>
      <p:sp>
        <p:nvSpPr>
          <p:cNvPr id="6" name="Shape 3"/>
          <p:cNvSpPr/>
          <p:nvPr/>
        </p:nvSpPr>
        <p:spPr>
          <a:xfrm>
            <a:off x="4013100" y="3156645"/>
            <a:ext cx="7619809" cy="2080617"/>
          </a:xfrm>
          <a:prstGeom prst="rect">
            <a:avLst/>
          </a:prstGeom>
          <a:solidFill>
            <a:srgbClr val="262D92"/>
          </a:solidFill>
          <a:ln/>
          <a:effectLst>
            <a:outerShdw sx="100000" sy="100000" kx="0" ky="0" algn="bl" rotWithShape="0" blurRad="278130" dist="127" dir="16200000">
              <a:srgbClr val="b7bceb">
                <a:alpha val="20000"/>
              </a:srgbClr>
            </a:outerShdw>
          </a:effectLst>
        </p:spPr>
      </p:sp>
      <p:sp>
        <p:nvSpPr>
          <p:cNvPr id="7" name="Text 4"/>
          <p:cNvSpPr/>
          <p:nvPr/>
        </p:nvSpPr>
        <p:spPr>
          <a:xfrm>
            <a:off x="4241694" y="3359845"/>
            <a:ext cx="7391215" cy="213320"/>
          </a:xfrm>
          <a:prstGeom prst="rect">
            <a:avLst/>
          </a:prstGeom>
          <a:noFill/>
          <a:ln/>
        </p:spPr>
        <p:txBody>
          <a:bodyPr wrap="none" lIns="0" tIns="0" rIns="0" bIns="0" rtlCol="0" anchor="t"/>
          <a:lstStyle/>
          <a:p>
            <a:pPr algn="l" indent="0" marL="0">
              <a:lnSpc>
                <a:spcPct val="100000"/>
              </a:lnSpc>
              <a:buNone/>
            </a:pPr>
            <a:r>
              <a:rPr lang="en-US" sz="1400" spc="42" kern="100" dirty="0">
                <a:solidFill>
                  <a:srgbClr val="EEF0FF"/>
                </a:solidFill>
                <a:latin typeface="Azeret Mono Medium" pitchFamily="34" charset="0"/>
                <a:ea typeface="Azeret Mono Medium" pitchFamily="34" charset="-122"/>
                <a:cs typeface="Azeret Mono Medium" pitchFamily="34" charset="-120"/>
              </a:rPr>
              <a:t>TARGETS, NOT MEASURED RESULTS</a:t>
            </a:r>
            <a:endParaRPr lang="en-US" sz="1400" dirty="0"/>
          </a:p>
        </p:txBody>
      </p:sp>
      <p:sp>
        <p:nvSpPr>
          <p:cNvPr id="8" name="Text 5"/>
          <p:cNvSpPr/>
          <p:nvPr/>
        </p:nvSpPr>
        <p:spPr>
          <a:xfrm>
            <a:off x="4241694" y="3700165"/>
            <a:ext cx="7162621" cy="1333897"/>
          </a:xfrm>
          <a:prstGeom prst="rect">
            <a:avLst/>
          </a:prstGeom>
          <a:noFill/>
          <a:ln/>
        </p:spPr>
        <p:txBody>
          <a:bodyPr wrap="square" lIns="0" tIns="0" rIns="0" bIns="0" rtlCol="0" anchor="t">
            <a:normAutofit/>
          </a:bodyPr>
          <a:lstStyle/>
          <a:p>
            <a:pPr algn="l" marL="345440" indent="-345440">
              <a:lnSpc>
                <a:spcPct val="118000"/>
              </a:lnSpc>
              <a:buSzPct val="100000"/>
              <a:buChar char="•"/>
            </a:pPr>
            <a:r>
              <a:rPr lang="en-US" sz="1700" dirty="0">
                <a:solidFill>
                  <a:srgbClr val="EEF0FF"/>
                </a:solidFill>
                <a:latin typeface="Lexend" pitchFamily="34" charset="0"/>
                <a:ea typeface="Lexend" pitchFamily="34" charset="-122"/>
                <a:cs typeface="Lexend" pitchFamily="34" charset="-120"/>
              </a:rPr>
              <a:t>Shorter outages, better prediction accuracy and faster field response</a:t>
            </a:r>
            <a:endParaRPr lang="en-US" sz="1700" dirty="0"/>
          </a:p>
          <a:p>
            <a:pPr algn="l" marL="345440" indent="-345440">
              <a:lnSpc>
                <a:spcPct val="118000"/>
              </a:lnSpc>
              <a:buSzPct val="100000"/>
              <a:buChar char="•"/>
            </a:pPr>
            <a:r>
              <a:rPr lang="en-US" sz="1700" dirty="0">
                <a:solidFill>
                  <a:srgbClr val="EEF0FF"/>
                </a:solidFill>
                <a:latin typeface="Lexend" pitchFamily="34" charset="0"/>
                <a:ea typeface="Lexend" pitchFamily="34" charset="-122"/>
                <a:cs typeface="Lexend" pitchFamily="34" charset="-120"/>
              </a:rPr>
              <a:t>Lower maintenance cost and energy losses</a:t>
            </a:r>
            <a:endParaRPr lang="en-US" sz="1700" dirty="0"/>
          </a:p>
          <a:p>
            <a:pPr algn="l" marL="345440" indent="-345440">
              <a:lnSpc>
                <a:spcPct val="118000"/>
              </a:lnSpc>
              <a:buSzPct val="100000"/>
              <a:buChar char="•"/>
            </a:pPr>
            <a:r>
              <a:rPr lang="en-US" sz="1700" dirty="0">
                <a:solidFill>
                  <a:srgbClr val="EEF0FF"/>
                </a:solidFill>
                <a:latin typeface="Lexend" pitchFamily="34" charset="0"/>
                <a:ea typeface="Lexend" pitchFamily="34" charset="-122"/>
                <a:cs typeface="Lexend" pitchFamily="34" charset="-120"/>
              </a:rPr>
              <a:t>Higher renewable utilization; more assets monitored at scale</a:t>
            </a:r>
            <a:endParaRPr lang="en-US" sz="1700" dirty="0"/>
          </a:p>
        </p:txBody>
      </p:sp>
      <p:sp>
        <p:nvSpPr>
          <p:cNvPr id="9" name="Text 6"/>
          <p:cNvSpPr/>
          <p:nvPr/>
        </p:nvSpPr>
        <p:spPr>
          <a:xfrm>
            <a:off x="4013100" y="5546130"/>
            <a:ext cx="8178595" cy="214610"/>
          </a:xfrm>
          <a:prstGeom prst="rect">
            <a:avLst/>
          </a:prstGeom>
          <a:noFill/>
          <a:ln/>
        </p:spPr>
        <p:txBody>
          <a:bodyPr wrap="none" lIns="0" tIns="0" rIns="0" bIns="0" rtlCol="0" anchor="t"/>
          <a:lstStyle/>
          <a:p>
            <a:pPr algn="l" indent="0" marL="0">
              <a:lnSpc>
                <a:spcPct val="108000"/>
              </a:lnSpc>
              <a:buNone/>
            </a:pPr>
            <a:r>
              <a:rPr lang="en-US" sz="1300" spc="13" kern="100" dirty="0">
                <a:solidFill>
                  <a:srgbClr val="B7BCEB"/>
                </a:solidFill>
                <a:latin typeface="Azeret Mono" pitchFamily="34" charset="0"/>
                <a:ea typeface="Azeret Mono" pitchFamily="34" charset="-122"/>
                <a:cs typeface="Azeret Mono" pitchFamily="34" charset="-120"/>
              </a:rPr>
              <a:t>AI · IoT · Digital Twin · Renewable Energy · Human Engineers</a:t>
            </a:r>
            <a:endParaRPr lang="en-US" sz="1300" dirty="0"/>
          </a:p>
        </p:txBody>
      </p:sp>
      <p:sp>
        <p:nvSpPr>
          <p:cNvPr id="10" name="Text 7"/>
          <p:cNvSpPr/>
          <p:nvPr/>
        </p:nvSpPr>
        <p:spPr>
          <a:xfrm>
            <a:off x="4013100" y="6129040"/>
            <a:ext cx="7619809" cy="297160"/>
          </a:xfrm>
          <a:prstGeom prst="rect">
            <a:avLst/>
          </a:prstGeom>
          <a:noFill/>
          <a:ln/>
        </p:spPr>
        <p:txBody>
          <a:bodyPr wrap="none" lIns="0" tIns="0" rIns="0" bIns="0" rtlCol="0" anchor="t"/>
          <a:lstStyle/>
          <a:p>
            <a:pPr algn="l" indent="0" marL="0">
              <a:lnSpc>
                <a:spcPct val="108000"/>
              </a:lnSpc>
              <a:buNone/>
            </a:pPr>
            <a:r>
              <a:rPr lang="en-US" sz="1800" dirty="0">
                <a:solidFill>
                  <a:srgbClr val="F4C45A"/>
                </a:solidFill>
                <a:latin typeface="Lexend" pitchFamily="34" charset="0"/>
                <a:ea typeface="Lexend" pitchFamily="34" charset="-122"/>
                <a:cs typeface="Lexend" pitchFamily="34" charset="-120"/>
              </a:rPr>
              <a:t>Predict. Prevent. Optimize. Power the Future.</a:t>
            </a:r>
            <a:endParaRPr lang="en-US" sz="1800" dirty="0"/>
          </a:p>
        </p:txBody>
      </p:sp>
      <p:pic>
        <p:nvPicPr>
          <p:cNvPr id="11" name="Image 1" descr="preencoded.png">    </p:cNvPr>
          <p:cNvPicPr>
            <a:picLocks noChangeAspect="1"/>
          </p:cNvPicPr>
          <p:nvPr/>
        </p:nvPicPr>
        <p:blipFill>
          <a:blip r:embed="rId2"/>
          <a:stretch>
            <a:fillRect/>
          </a:stretch>
        </p:blipFill>
        <p:spPr>
          <a:xfrm>
            <a:off x="114297" y="114300"/>
            <a:ext cx="3428914" cy="6629400"/>
          </a:xfrm>
          <a:prstGeom prst="rect">
            <a:avLst/>
          </a:prstGeom>
        </p:spPr>
      </p:pic>
      <p:pic>
        <p:nvPicPr>
          <p:cNvPr id="12" name="Image 2" descr="preencoded.png">    </p:cNvPr>
          <p:cNvPicPr>
            <a:picLocks noChangeAspect="1"/>
          </p:cNvPicPr>
          <p:nvPr/>
        </p:nvPicPr>
        <p:blipFill>
          <a:blip r:embed="rId3"/>
          <a:stretch>
            <a:fillRect/>
          </a:stretch>
        </p:blipFill>
        <p:spPr>
          <a:xfrm>
            <a:off x="0" y="0"/>
            <a:ext cx="12191695" cy="5913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2026-10-05T11:30:51Z</dcterms:created>
  <dcterms:modified xsi:type="dcterms:W3CDTF">2026-10-05T11:30:51Z</dcterms:modified>
</cp:coreProperties>
</file>